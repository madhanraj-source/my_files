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F4B41A">
              <a:alpha val="12000"/>
            </a:srgbClr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2560320" cy="411480"/>
          </a:xfrm>
          <a:prstGeom prst="roundRect">
            <a:avLst>
              <a:gd name="adj" fmla="val 48889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 ·  PART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OptScale + LLM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flow, RAG pattern, prompt construction, and an end-to-end query trace.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5486400"/>
            <a:ext cx="2377440" cy="685800"/>
          </a:xfrm>
          <a:prstGeom prst="rect">
            <a:avLst/>
          </a:prstGeom>
          <a:solidFill>
            <a:srgbClr val="1C3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5577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5815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11880" y="5486400"/>
            <a:ext cx="2377440" cy="685800"/>
          </a:xfrm>
          <a:prstGeom prst="rect">
            <a:avLst/>
          </a:prstGeom>
          <a:solidFill>
            <a:srgbClr val="1C3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5577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5815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5486400"/>
            <a:ext cx="2377440" cy="685800"/>
          </a:xfrm>
          <a:prstGeom prst="rect">
            <a:avLst/>
          </a:prstGeom>
          <a:solidFill>
            <a:srgbClr val="1C3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5577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5815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Pattern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32520" y="5486400"/>
            <a:ext cx="2377440" cy="685800"/>
          </a:xfrm>
          <a:prstGeom prst="rect">
            <a:avLst/>
          </a:prstGeom>
          <a:solidFill>
            <a:srgbClr val="1C3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5577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15400" y="5815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·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eleven components — here is exactly what sits between your question and the 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19659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28803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0" y="42976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0" y="5577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5806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169164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47088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9728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971800" y="1984248"/>
            <a:ext cx="274320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291840" y="1691640"/>
            <a:ext cx="22860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470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4760" y="1691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· Slack bot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434840" y="2331720"/>
            <a:ext cx="0" cy="32004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40080" y="2606040"/>
            <a:ext cx="11018520" cy="123444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868680" y="2679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SERVICE  (Python · orchestrates everything)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68680" y="3017520"/>
            <a:ext cx="3520440" cy="685800"/>
          </a:xfrm>
          <a:prstGeom prst="rect">
            <a:avLst/>
          </a:prstGeom>
          <a:solidFill>
            <a:srgbClr val="1C3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78408" y="3182112"/>
            <a:ext cx="347472" cy="347472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78408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417320" y="3090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Router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417320" y="33467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intent: anomaly? recommendation? reporting?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526280" y="3017520"/>
            <a:ext cx="3520440" cy="685800"/>
          </a:xfrm>
          <a:prstGeom prst="rect">
            <a:avLst/>
          </a:prstGeom>
          <a:solidFill>
            <a:srgbClr val="1C3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636008" y="3182112"/>
            <a:ext cx="347472" cy="347472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36008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5074920" y="3090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Builder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074920" y="33467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OptScale data + retrieves from Vector DB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183880" y="3017520"/>
            <a:ext cx="3520440" cy="685800"/>
          </a:xfrm>
          <a:prstGeom prst="rect">
            <a:avLst/>
          </a:prstGeom>
          <a:solidFill>
            <a:srgbClr val="1C3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293608" y="3182112"/>
            <a:ext cx="347472" cy="347472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293608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8732520" y="3090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8732520" y="33467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system prompt + context + question, calls LLM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3200400" y="3886200"/>
            <a:ext cx="0" cy="41148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8686800" y="3886200"/>
            <a:ext cx="0" cy="41148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640080" y="4023360"/>
            <a:ext cx="52120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640080" y="4023360"/>
            <a:ext cx="52120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24528"/>
            <a:ext cx="365760" cy="36576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325880" y="4187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(ChromaDB)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868680" y="4617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of OptScale snapshots, recommendations, and past conversations. Enables semantic search when raw data exceeds the LLM context window.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446520" y="4023360"/>
            <a:ext cx="52120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6446520" y="4023360"/>
            <a:ext cx="52120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24528"/>
            <a:ext cx="365760" cy="36576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132320" y="4187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(FinOps platform)</a:t>
            </a:r>
            <a:endParaRPr lang="en-US" sz="1400" dirty="0"/>
          </a:p>
        </p:txBody>
      </p:sp>
      <p:sp>
        <p:nvSpPr>
          <p:cNvPr id="50" name="Shape 44"/>
          <p:cNvSpPr/>
          <p:nvPr/>
        </p:nvSpPr>
        <p:spPr>
          <a:xfrm>
            <a:off x="6675120" y="4709160"/>
            <a:ext cx="1161288" cy="384048"/>
          </a:xfrm>
          <a:prstGeom prst="roundRect">
            <a:avLst>
              <a:gd name="adj" fmla="val 11905"/>
            </a:avLst>
          </a:prstGeom>
          <a:solidFill>
            <a:srgbClr val="E8F1F5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675120" y="470916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7909560" y="4709160"/>
            <a:ext cx="1161288" cy="384048"/>
          </a:xfrm>
          <a:prstGeom prst="roundRect">
            <a:avLst>
              <a:gd name="adj" fmla="val 11905"/>
            </a:avLst>
          </a:prstGeom>
          <a:solidFill>
            <a:srgbClr val="E8F1F5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7909560" y="470916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Engine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9144000" y="4709160"/>
            <a:ext cx="1161288" cy="384048"/>
          </a:xfrm>
          <a:prstGeom prst="roundRect">
            <a:avLst>
              <a:gd name="adj" fmla="val 11905"/>
            </a:avLst>
          </a:prstGeom>
          <a:solidFill>
            <a:srgbClr val="E8F1F5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9144000" y="470916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10378440" y="4709160"/>
            <a:ext cx="1161288" cy="384048"/>
          </a:xfrm>
          <a:prstGeom prst="roundRect">
            <a:avLst>
              <a:gd name="adj" fmla="val 11905"/>
            </a:avLst>
          </a:prstGeom>
          <a:solidFill>
            <a:srgbClr val="E8F1F5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10378440" y="470916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ClickHouse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9052560" y="5394960"/>
            <a:ext cx="0" cy="45720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59" name="Shape 53"/>
          <p:cNvSpPr/>
          <p:nvPr/>
        </p:nvSpPr>
        <p:spPr>
          <a:xfrm>
            <a:off x="3200400" y="5394960"/>
            <a:ext cx="0" cy="45720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60" name="Shape 54"/>
          <p:cNvSpPr/>
          <p:nvPr/>
        </p:nvSpPr>
        <p:spPr>
          <a:xfrm>
            <a:off x="640080" y="5532120"/>
            <a:ext cx="5212080" cy="109728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897880"/>
            <a:ext cx="411480" cy="41148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1417320" y="5669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 local · or OpenAI/Claude API)</a:t>
            </a:r>
            <a:endParaRPr lang="en-US" sz="1400" dirty="0"/>
          </a:p>
        </p:txBody>
      </p:sp>
      <p:sp>
        <p:nvSpPr>
          <p:cNvPr id="63" name="Text 56"/>
          <p:cNvSpPr/>
          <p:nvPr/>
        </p:nvSpPr>
        <p:spPr>
          <a:xfrm>
            <a:off x="1417320" y="5989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prompt → returns plain-English reasoning. Local Ollama keeps data on-prem.</a:t>
            </a:r>
            <a:endParaRPr lang="en-US" sz="1050" dirty="0"/>
          </a:p>
        </p:txBody>
      </p:sp>
      <p:sp>
        <p:nvSpPr>
          <p:cNvPr id="64" name="Shape 57"/>
          <p:cNvSpPr/>
          <p:nvPr/>
        </p:nvSpPr>
        <p:spPr>
          <a:xfrm>
            <a:off x="6446520" y="5532120"/>
            <a:ext cx="521208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5897880"/>
            <a:ext cx="411480" cy="411480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7223760" y="5669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 (AWS · Azure · GCP · K8s)</a:t>
            </a:r>
            <a:endParaRPr lang="en-US" sz="1400" dirty="0"/>
          </a:p>
        </p:txBody>
      </p:sp>
      <p:sp>
        <p:nvSpPr>
          <p:cNvPr id="67" name="Text 59"/>
          <p:cNvSpPr/>
          <p:nvPr/>
        </p:nvSpPr>
        <p:spPr>
          <a:xfrm>
            <a:off x="7223760" y="5989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OptScale's collectors poll billing &amp; usage data into MongoDB/ClickHouse.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·  QUERY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User Asks a Question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steps from prompt to plain-English 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" y="15087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16367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6404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472184" y="205740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747772" y="15087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52" y="16367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50692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76472" y="205740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052060" y="15087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163677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5498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080760" y="205740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7356348" y="15087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228" y="163677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59268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385048" y="205740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9660636" y="15087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3516" y="163677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163556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0689336" y="205740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6" name="Text 19"/>
          <p:cNvSpPr/>
          <p:nvPr/>
        </p:nvSpPr>
        <p:spPr>
          <a:xfrm>
            <a:off x="1252728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question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472184" y="2331720"/>
            <a:ext cx="2304288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headEnd type="none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2505456" y="2212848"/>
            <a:ext cx="237744" cy="237744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505456" y="2212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557016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776472" y="2880360"/>
            <a:ext cx="2304288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headEnd type="none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4809744" y="2761488"/>
            <a:ext cx="237744" cy="237744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809744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557016" y="3108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 chunks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776472" y="3429000"/>
            <a:ext cx="2304288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headEnd type="triangle"/>
            <a:tailEnd type="none"/>
          </a:ln>
        </p:spPr>
      </p:sp>
      <p:sp>
        <p:nvSpPr>
          <p:cNvPr id="36" name="Shape 29"/>
          <p:cNvSpPr/>
          <p:nvPr/>
        </p:nvSpPr>
        <p:spPr>
          <a:xfrm>
            <a:off x="4809744" y="3310128"/>
            <a:ext cx="237744" cy="237744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809744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70916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fresh OptScale data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776472" y="3977640"/>
            <a:ext cx="4608576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headEnd type="none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5961888" y="3858768"/>
            <a:ext cx="237744" cy="237744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961888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4709160" y="4206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cost data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3776472" y="4526280"/>
            <a:ext cx="4608576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headEnd type="triangle"/>
            <a:tailEnd type="none"/>
          </a:ln>
        </p:spPr>
      </p:sp>
      <p:sp>
        <p:nvSpPr>
          <p:cNvPr id="44" name="Shape 37"/>
          <p:cNvSpPr/>
          <p:nvPr/>
        </p:nvSpPr>
        <p:spPr>
          <a:xfrm>
            <a:off x="5961888" y="4407408"/>
            <a:ext cx="237744" cy="237744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961888" y="4407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5861304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system + context + question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3776472" y="5074920"/>
            <a:ext cx="6912864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headEnd type="none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7114032" y="4956048"/>
            <a:ext cx="237744" cy="237744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114032" y="4956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5861304" y="5303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answer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3776472" y="5623560"/>
            <a:ext cx="6912864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headEnd type="triangle"/>
            <a:tailEnd type="none"/>
          </a:ln>
        </p:spPr>
      </p:sp>
      <p:sp>
        <p:nvSpPr>
          <p:cNvPr id="52" name="Shape 45"/>
          <p:cNvSpPr/>
          <p:nvPr/>
        </p:nvSpPr>
        <p:spPr>
          <a:xfrm>
            <a:off x="7114032" y="5504688"/>
            <a:ext cx="237744" cy="237744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114032" y="5504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1252728" y="5852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response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1472184" y="6172200"/>
            <a:ext cx="2304288" cy="0"/>
          </a:xfrm>
          <a:prstGeom prst="line">
            <a:avLst/>
          </a:prstGeom>
          <a:noFill/>
          <a:ln w="25400">
            <a:solidFill>
              <a:srgbClr val="0F2C4D"/>
            </a:solidFill>
            <a:prstDash val="solid"/>
            <a:headEnd type="triangle"/>
            <a:tailEnd type="none"/>
          </a:ln>
        </p:spPr>
      </p:sp>
      <p:sp>
        <p:nvSpPr>
          <p:cNvPr id="56" name="Shape 49"/>
          <p:cNvSpPr/>
          <p:nvPr/>
        </p:nvSpPr>
        <p:spPr>
          <a:xfrm>
            <a:off x="2505456" y="6053328"/>
            <a:ext cx="237744" cy="237744"/>
          </a:xfrm>
          <a:prstGeom prst="ellipse">
            <a:avLst/>
          </a:prstGeom>
          <a:solidFill>
            <a:srgbClr val="F4B41A"/>
          </a:solidFill>
          <a:ln w="19050">
            <a:solidFill>
              <a:srgbClr val="0F2C4D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2505456" y="6053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Shape 51"/>
          <p:cNvSpPr/>
          <p:nvPr/>
        </p:nvSpPr>
        <p:spPr>
          <a:xfrm>
            <a:off x="640080" y="6400800"/>
            <a:ext cx="10881360" cy="45720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777240" y="6400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Bridge orchestrates everything. Per query it decides whether to use the Vector DB, OptScale, or both — then formats the result for the LLM.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·  RAG PATTERN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Need a Vector DB: The Context Window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data is bigger than any LLM context — RAG (Retrieval-Augmented Generation) fixes that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solidFill>
            <a:srgbClr val="FEF5DC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OptScale recommendation export can be 50,000+ tokens. LLMs cap at 8K–200K. You can't just dump everything — and you don't want to. </a:t>
            </a:r>
            <a:pPr indent="0" marL="0">
              <a:buNone/>
            </a:pPr>
            <a:r>
              <a:rPr lang="en-US" sz="1200" b="1" i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embed once, retrieve only what's relevant per question.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5349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468880"/>
            <a:ext cx="5349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4688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FLOW  (runs every N minutes)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200400"/>
            <a:ext cx="384048" cy="384048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71600" y="3154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snapshot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0" y="34015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polls REST API: anomalies, recommendations, top resources, cost trends.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60704" y="3584448"/>
            <a:ext cx="0" cy="347472"/>
          </a:xfrm>
          <a:prstGeom prst="line">
            <a:avLst/>
          </a:prstGeom>
          <a:noFill/>
          <a:ln w="19050">
            <a:solidFill>
              <a:srgbClr val="5BA3C2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868680" y="3913632"/>
            <a:ext cx="384048" cy="384048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71600" y="3867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 enrich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4114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semantic chunks (e.g. one per recommendation), add metadata (date, service, region).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60704" y="4297680"/>
            <a:ext cx="0" cy="347472"/>
          </a:xfrm>
          <a:prstGeom prst="line">
            <a:avLst/>
          </a:prstGeom>
          <a:noFill/>
          <a:ln w="19050">
            <a:solidFill>
              <a:srgbClr val="5BA3C2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868680" y="4626864"/>
            <a:ext cx="384048" cy="384048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71600" y="4581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(sentence-transformer)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371600" y="4828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→ 384-dim vector. Captures semantic meaning, not just keywords.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60704" y="5010912"/>
            <a:ext cx="0" cy="347472"/>
          </a:xfrm>
          <a:prstGeom prst="line">
            <a:avLst/>
          </a:prstGeom>
          <a:noFill/>
          <a:ln w="19050">
            <a:solidFill>
              <a:srgbClr val="5BA3C2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868680" y="5340096"/>
            <a:ext cx="384048" cy="384048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71600" y="52943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ChromaDB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371600" y="55412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metadata + raw text written to the collection. Versioned by date.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72200" y="2468880"/>
            <a:ext cx="5349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72200" y="2468880"/>
            <a:ext cx="5349240" cy="45720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55080" y="24688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FLOW  (runs on every user question)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0" y="3200400"/>
            <a:ext cx="384048" cy="384048"/>
          </a:xfrm>
          <a:prstGeom prst="ellipse">
            <a:avLst/>
          </a:prstGeom>
          <a:solidFill>
            <a:srgbClr val="FEF5DC"/>
          </a:solidFill>
          <a:ln w="19050">
            <a:solidFill>
              <a:srgbClr val="F4B4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903720" y="3154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arrives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03720" y="34015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EKS cost spike last week?”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592824" y="3584448"/>
            <a:ext cx="0" cy="347472"/>
          </a:xfrm>
          <a:prstGeom prst="line">
            <a:avLst/>
          </a:prstGeom>
          <a:noFill/>
          <a:ln w="19050">
            <a:solidFill>
              <a:srgbClr val="F4B41A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6400800" y="3913632"/>
            <a:ext cx="384048" cy="384048"/>
          </a:xfrm>
          <a:prstGeom prst="ellipse">
            <a:avLst/>
          </a:prstGeom>
          <a:solidFill>
            <a:srgbClr val="FEF5DC"/>
          </a:solidFill>
          <a:ln w="19050">
            <a:solidFill>
              <a:srgbClr val="F4B41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03720" y="3867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903720" y="4114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sentence-transformer model → 384-dim query vector.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592824" y="4297680"/>
            <a:ext cx="0" cy="347472"/>
          </a:xfrm>
          <a:prstGeom prst="line">
            <a:avLst/>
          </a:prstGeom>
          <a:noFill/>
          <a:ln w="19050">
            <a:solidFill>
              <a:srgbClr val="F4B41A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400800" y="4626864"/>
            <a:ext cx="384048" cy="384048"/>
          </a:xfrm>
          <a:prstGeom prst="ellipse">
            <a:avLst/>
          </a:prstGeom>
          <a:solidFill>
            <a:srgbClr val="FEF5DC"/>
          </a:solidFill>
          <a:ln w="19050">
            <a:solidFill>
              <a:srgbClr val="F4B41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903720" y="4581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(top-K)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903720" y="4828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returns 5–10 most semantically similar chunks (cosine distance).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592824" y="5010912"/>
            <a:ext cx="0" cy="347472"/>
          </a:xfrm>
          <a:prstGeom prst="line">
            <a:avLst/>
          </a:prstGeom>
          <a:noFill/>
          <a:ln w="19050">
            <a:solidFill>
              <a:srgbClr val="F4B41A"/>
            </a:solidFill>
            <a:prstDash val="dash"/>
          </a:ln>
        </p:spPr>
      </p:sp>
      <p:sp>
        <p:nvSpPr>
          <p:cNvPr id="49" name="Shape 46"/>
          <p:cNvSpPr/>
          <p:nvPr/>
        </p:nvSpPr>
        <p:spPr>
          <a:xfrm>
            <a:off x="6400800" y="5340096"/>
            <a:ext cx="384048" cy="384048"/>
          </a:xfrm>
          <a:prstGeom prst="ellipse">
            <a:avLst/>
          </a:prstGeom>
          <a:solidFill>
            <a:srgbClr val="FEF5DC"/>
          </a:solidFill>
          <a:ln w="19050">
            <a:solidFill>
              <a:srgbClr val="F4B41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0080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6903720" y="52943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LLM prompt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903720" y="55412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become the “Context” block sent with the question.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7724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Embed expensive things once. Retrieve cheap, relevant chunks at query time. The LLM only ever sees what it needs.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 ·  EXAMPLE TRACE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A Real Query, From Question to Answer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question through every layer of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our EKS cluster cost jump 23% last week vs the prior week?”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1088136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59152"/>
            <a:ext cx="5486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9152"/>
            <a:ext cx="548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2432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FETCHES FROM OPTSCALE  ·  /api/cost_anomalies + /api/recommendations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"anomaly_id": "a-91f", "service": "EKS", "region": "us-east-1",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"baseline_weekly": 412.50, "current_weekly": 507.40, "delta_pct": 23,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"top_driver": { "resource": "node-group-prod-3", "new_pods": 14,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"deployed_on": "2026-05-06", "image": "checkout-svc:v2.4" } 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03904"/>
            <a:ext cx="10881360" cy="137160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03904"/>
            <a:ext cx="54864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03904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858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BUILDS THE LLM PROMPT  ·  system + context + question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4169664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[SYSTEM]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FinOps analyst. Explain cost anomalies in plain English with root cause and remediation.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[CONTEXT]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a-91f shows EKS cost up 23% week-over-week. Driver: node-group-prod-3, 14 new pods from checkout-svc:v2.4 deployed 2026-05-06.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4B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[USER]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did our EKS cluster cost jump 23% last week vs the prior week?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340096"/>
            <a:ext cx="108813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B41A"/>
            </a:solidFill>
            <a:prstDash val="solid"/>
          </a:ln>
          <a:effectLst>
            <a:outerShdw sx="100000" sy="100000" kx="0" ky="0" algn="bl" rotWithShape="0" blurRad="127000" dist="25400" dir="5400000">
              <a:srgbClr val="0F2C4D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340096"/>
            <a:ext cx="548640" cy="132588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40096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5413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 ·  user sees this in chat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5705856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23% jump is driven by </a:t>
            </a:r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node-group-prod-3 in us-east-1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 May 6 a new deployment of </a:t>
            </a:r>
            <a:pPr indent="0" marL="0">
              <a:buNone/>
            </a:pPr>
            <a:r>
              <a:rPr lang="en-US" sz="1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checkout-svc v2.4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added 14 pods. The cluster autoscaled up but never scaled back down. </a:t>
            </a:r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 HPA thresholds, enable cluster-autoscaler scale-down, and review the new service's resource requests — likely over-provisioned.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OptScale + LLM: Inside the Integration</dc:title>
  <dc:subject>PptxGenJS Presentation</dc:subject>
  <dc:creator>PptxGenJS</dc:creator>
  <cp:lastModifiedBy>PptxGenJS</cp:lastModifiedBy>
  <cp:revision>1</cp:revision>
  <dcterms:created xsi:type="dcterms:W3CDTF">2026-05-13T06:51:31Z</dcterms:created>
  <dcterms:modified xsi:type="dcterms:W3CDTF">2026-05-13T06:51:31Z</dcterms:modified>
</cp:coreProperties>
</file>