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4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sv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svg"/><Relationship Id="rId5" Type="http://schemas.openxmlformats.org/officeDocument/2006/relationships/image" Target="../media/image17.png"/><Relationship Id="rId10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Relationship Id="rId14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svg"/><Relationship Id="rId3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8.svg"/><Relationship Id="rId5" Type="http://schemas.openxmlformats.org/officeDocument/2006/relationships/image" Target="../media/image17.png"/><Relationship Id="rId10" Type="http://schemas.openxmlformats.org/officeDocument/2006/relationships/image" Target="../media/image27.svg"/><Relationship Id="rId4" Type="http://schemas.openxmlformats.org/officeDocument/2006/relationships/image" Target="../media/image18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5.png"/><Relationship Id="rId10" Type="http://schemas.openxmlformats.org/officeDocument/2006/relationships/image" Target="../media/image49.png"/><Relationship Id="rId4" Type="http://schemas.openxmlformats.org/officeDocument/2006/relationships/image" Target="../media/image46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36576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•  ENTERPRISE RESEARCH BRIEFING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of DevSecOps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Practices, Tools &amp; AI in the Modern Enterprise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370332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of how leading engineering organizations — Google, Microsoft, Netflix, GitHub, AWS — have embedded security into the modern software lifecycle. Drawn from engineering blogs, peer-reviewed research, and production case studies.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5243998"/>
            <a:ext cx="1828800" cy="292608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524399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&amp; PRACTICES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06040" y="5243998"/>
            <a:ext cx="1828800" cy="292608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606040" y="524399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0" y="5243998"/>
            <a:ext cx="1828800" cy="292608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0" y="524399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PIPELINES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537960" y="5243998"/>
            <a:ext cx="1828800" cy="292608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537960" y="524399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</a:t>
            </a:r>
            <a:endParaRPr lang="en-US" sz="8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0058400" y="1097280"/>
            <a:ext cx="822960" cy="82296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10058400" y="2468880"/>
            <a:ext cx="822960" cy="822960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10058400" y="3840480"/>
            <a:ext cx="822960" cy="822960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0058400" y="5212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EVOLUTION OF DEVSECOPS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Late-Stage Gates to Continuous, Embedded Security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has moved from a final-stage checkpoint to a discipline embedded across every commit, build, and runtime event.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6218" y="1642021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536218" y="1642021"/>
            <a:ext cx="26974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64818" y="1934629"/>
            <a:ext cx="640080" cy="64008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78" y="2071789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6338" y="1934629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96338" y="2172373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+ Late-Stage Pen Test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4818" y="2922181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added at the end. Manual pen tests, gated releases. Vulnerabilities found weeks after coding — fixes are expensive and disruptive.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418" y="3105061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508018" y="1642021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508018" y="1642021"/>
            <a:ext cx="26974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736618" y="1934629"/>
            <a:ext cx="640080" cy="64008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778" y="2071789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68138" y="1934629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ERA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468138" y="2172373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Wins, Security Lags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736618" y="2922181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+ CI/CD scaled delivery, but security stayed manual and gate-driven — the antithesis of automation, transparency, and speed.</a:t>
            </a:r>
            <a:endParaRPr lang="en-US" sz="16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218" y="3105061"/>
            <a:ext cx="182880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479818" y="1642021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6479818" y="1642021"/>
            <a:ext cx="26974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708418" y="1934629"/>
            <a:ext cx="640080" cy="64008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578" y="2071789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39938" y="1934629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439938" y="2172373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&amp; Shift-Left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708418" y="2922181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SAST/SCA/IaC scans on every PR. Security as code. Shared ownership across Dev, Sec, Ops. Continuous assessment is the dominant practice.</a:t>
            </a:r>
            <a:endParaRPr lang="en-US" sz="16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018" y="3105061"/>
            <a:ext cx="182880" cy="18288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9451618" y="1642021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3"/>
          <p:cNvSpPr/>
          <p:nvPr/>
        </p:nvSpPr>
        <p:spPr>
          <a:xfrm>
            <a:off x="9451618" y="1642021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9680218" y="1934629"/>
            <a:ext cx="640080" cy="64008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7378" y="2071789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411738" y="1934629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0411738" y="2172373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&amp; Autonomous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9680218" y="2922181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detection, autofix PRs, agentic incident response, runtime shielding via eBPF, and verifiable supply-chain attestations.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548640" y="4965865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8" name="Shape 29"/>
          <p:cNvSpPr/>
          <p:nvPr/>
        </p:nvSpPr>
        <p:spPr>
          <a:xfrm>
            <a:off x="548640" y="4965865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9" name="Text 30"/>
          <p:cNvSpPr/>
          <p:nvPr/>
        </p:nvSpPr>
        <p:spPr>
          <a:xfrm>
            <a:off x="777240" y="5057305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THIS SHIFT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777240" y="5331625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architectures: ephemeral workloads, dynamic identities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3566160" y="5331625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supply-chain attacks: SolarWinds, Log4j, dependency confusion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6355080" y="5331625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demands: thousands of deploys/day require automated guardrails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9144000" y="5331625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Regulation: EU CRA, US EO 14028, SOC 2 expectations on attestation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457200" y="6049429"/>
            <a:ext cx="11247120" cy="292608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5" name="Text 36"/>
          <p:cNvSpPr/>
          <p:nvPr/>
        </p:nvSpPr>
        <p:spPr>
          <a:xfrm>
            <a:off x="640080" y="6049429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 longer a phase — it is a continuous, automated property of the platform.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457200" y="6369469"/>
            <a:ext cx="112471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7" name="Text 38"/>
          <p:cNvSpPr/>
          <p:nvPr/>
        </p:nvSpPr>
        <p:spPr>
          <a:xfrm>
            <a:off x="4572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48" name="Text 39"/>
          <p:cNvSpPr/>
          <p:nvPr/>
        </p:nvSpPr>
        <p:spPr>
          <a:xfrm>
            <a:off x="1188720" y="6545724"/>
            <a:ext cx="8677835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SDL — microsoft.com/en-us/securityengineering/sdl  |  Rajapakse et al. (2022) Systematic Review — arxiv.org/abs/2103.08266  |  MDPI 2025 SLR — mdpi.com/2227-7080/13/12/548</a:t>
            </a:r>
            <a:endParaRPr lang="en-US" sz="800" dirty="0"/>
          </a:p>
        </p:txBody>
      </p:sp>
      <p:sp>
        <p:nvSpPr>
          <p:cNvPr id="49" name="Text 40"/>
          <p:cNvSpPr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CURRENT MARKET PRACTICES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&amp; Ownership at Leading Engineering Orgs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59"/>
            <a:ext cx="6858000" cy="1474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73152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90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344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Paved Road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3796" y="2025396"/>
            <a:ext cx="6537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Central platform team provides secure-by-default CI and deployment building blocks (standard CI pipelines + Spinnaker for delivery, plus paved auth/secrets/TLS), engineers opt in and automatically inherit security and compliance—so adoption of the platform matters more than enforcing security per application.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68580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73152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632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999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2344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SDL, Continuously Applied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3611880"/>
            <a:ext cx="6537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modeling, role-based secure-coding training, approved-tool lists, and pipeline-enforced guardrails. SDL is treated as a continuous improvement loop spanning culture, process, and tools — not a checklist.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4343399"/>
            <a:ext cx="6858000" cy="155265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57200" y="4343400"/>
            <a:ext cx="73152" cy="155265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720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4507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2344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Industry-Wide Frameworks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5120640"/>
            <a:ext cx="6537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Google’s internal systems like Binary Authorization enforce that only trusted, verifiable artifacts are deployed, and these practices—along with other secure build and provenance mechanisms—influenced SLSA, now an </a:t>
            </a:r>
            <a:r>
              <a:rPr lang="en-US" sz="1200" dirty="0" err="1"/>
              <a:t>OpenSSF</a:t>
            </a:r>
            <a:r>
              <a:rPr lang="en-US" sz="1200" dirty="0"/>
              <a:t> standard; the core principle is that every production artifact must be traceable to a verified source and a hardened build.</a:t>
            </a:r>
          </a:p>
        </p:txBody>
      </p:sp>
      <p:sp>
        <p:nvSpPr>
          <p:cNvPr id="23" name="Shape 18"/>
          <p:cNvSpPr/>
          <p:nvPr/>
        </p:nvSpPr>
        <p:spPr>
          <a:xfrm>
            <a:off x="7543800" y="1325880"/>
            <a:ext cx="4160520" cy="47091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4" name="Text 19"/>
          <p:cNvSpPr/>
          <p:nvPr/>
        </p:nvSpPr>
        <p:spPr>
          <a:xfrm>
            <a:off x="77724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CULTURAL PILLARS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77240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leading org shares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772400" y="2194560"/>
            <a:ext cx="384048" cy="384048"/>
          </a:xfrm>
          <a:prstGeom prst="ellipse">
            <a:avLst/>
          </a:prstGeom>
          <a:solidFill>
            <a:srgbClr val="112844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4696" y="2276856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257032" y="2176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257032" y="24323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models, SAST and SCA on every pull request.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772400" y="3154680"/>
            <a:ext cx="384048" cy="384048"/>
          </a:xfrm>
          <a:prstGeom prst="ellipse">
            <a:avLst/>
          </a:prstGeom>
          <a:solidFill>
            <a:srgbClr val="112844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696" y="3236976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257032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257032" y="339242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Champions in every product team — not a separate gatekeeper.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7772400" y="4114800"/>
            <a:ext cx="384048" cy="384048"/>
          </a:xfrm>
          <a:prstGeom prst="ellipse">
            <a:avLst/>
          </a:prstGeom>
          <a:solidFill>
            <a:srgbClr val="112844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4696" y="4197096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257032" y="4096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Code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8257032" y="43525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configs, and controls live in Git — versioned, reviewable, testable.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7772400" y="5074920"/>
            <a:ext cx="384048" cy="384048"/>
          </a:xfrm>
          <a:prstGeom prst="ellipse">
            <a:avLst/>
          </a:prstGeom>
          <a:solidFill>
            <a:srgbClr val="112844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4696" y="5157216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257032" y="5056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Assessment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8257032" y="53126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telemetry and runtime signals feed back into design decisions.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457200" y="6446520"/>
            <a:ext cx="112471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/>
          <p:nvPr/>
        </p:nvSpPr>
        <p:spPr>
          <a:xfrm>
            <a:off x="4572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1325880" y="65105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Tech Blog (Astha Singhal): Scaling Appsec at Netflix — netflixtechblog.medium.com/scaling-appsec-at-netflix-6a13d7ab6043  |  Microsoft SDL: 10 Practices — microsoft.com/en-us/securityengineering/sdl/practices  |  Google Online Security Blog: Introducing SLSA — security.googleblog.com/2021/06/introducing-slsa-end-to-end-framework.html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PIPELINE PRACTICES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Shift-Left, Shield-Right &amp; Policy-as-Code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 are layered across the pipeline — pre-commit through runtime — with policy engines acting as the connective tissue.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1124712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72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35380" y="2194560"/>
            <a:ext cx="548640" cy="54864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396" y="232257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88036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plugins · pre-commit hooks · secret scanning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16480" y="1828800"/>
            <a:ext cx="172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48940" y="2194560"/>
            <a:ext cx="548640" cy="54864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956" y="232257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16480" y="288036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SCA · dependency review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130040" y="1828800"/>
            <a:ext cx="172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62500" y="2194560"/>
            <a:ext cx="548640" cy="54864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0516" y="232257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30040" y="288036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&amp; image scan · SBOM gen · signing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943600" y="1828800"/>
            <a:ext cx="172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576060" y="2194560"/>
            <a:ext cx="548640" cy="54864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076" y="232257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43600" y="288036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 · admission control · provenance verify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757160" y="1828800"/>
            <a:ext cx="172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8389620" y="2194560"/>
            <a:ext cx="548640" cy="54864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7636" y="232257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57160" y="288036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telemetry · DAST · anomaly detection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570720" y="1828800"/>
            <a:ext cx="172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10203180" y="2194560"/>
            <a:ext cx="548640" cy="54864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1196" y="232257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570720" y="288036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Auto-rollback · auto-PR fixes · ticketing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457200" y="379476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33" name="Shape 25"/>
          <p:cNvSpPr/>
          <p:nvPr/>
        </p:nvSpPr>
        <p:spPr>
          <a:xfrm>
            <a:off x="457200" y="3794760"/>
            <a:ext cx="73152" cy="2240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977640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170432" y="3959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1170432" y="4206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it before it ships</a:t>
            </a: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685800" y="46177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at design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/ SCA on every PR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PRs (Dependabot)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push-protection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4251960" y="379476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0"/>
          <p:cNvSpPr/>
          <p:nvPr/>
        </p:nvSpPr>
        <p:spPr>
          <a:xfrm>
            <a:off x="4251960" y="379476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0560" y="3977640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965192" y="3959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SHIELD-RIGHT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4965192" y="4206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what's running</a:t>
            </a:r>
            <a:endParaRPr lang="en-US" sz="950" dirty="0"/>
          </a:p>
        </p:txBody>
      </p:sp>
      <p:sp>
        <p:nvSpPr>
          <p:cNvPr id="43" name="Text 33"/>
          <p:cNvSpPr/>
          <p:nvPr/>
        </p:nvSpPr>
        <p:spPr>
          <a:xfrm>
            <a:off x="4480560" y="46177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runtime telemetry (Falco)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anomaly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&amp; auto-rollback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DAST in staging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046720" y="379476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35"/>
          <p:cNvSpPr/>
          <p:nvPr/>
        </p:nvSpPr>
        <p:spPr>
          <a:xfrm>
            <a:off x="8046720" y="3794760"/>
            <a:ext cx="73152" cy="2240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977640"/>
            <a:ext cx="365760" cy="36576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759952" y="3959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8759952" y="4206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the platform enforces</a:t>
            </a:r>
            <a:endParaRPr lang="en-US" sz="950" dirty="0"/>
          </a:p>
        </p:txBody>
      </p:sp>
      <p:sp>
        <p:nvSpPr>
          <p:cNvPr id="49" name="Text 38"/>
          <p:cNvSpPr/>
          <p:nvPr/>
        </p:nvSpPr>
        <p:spPr>
          <a:xfrm>
            <a:off x="8275320" y="46177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OPA/Gatekeeper · Kyverno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Rego/YAML policies in Git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admission control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Netflix, Pinterest, Capital One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457200" y="6446520"/>
            <a:ext cx="112471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0"/>
          <p:cNvSpPr/>
          <p:nvPr/>
        </p:nvSpPr>
        <p:spPr>
          <a:xfrm>
            <a:off x="4572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52" name="Text 41"/>
          <p:cNvSpPr/>
          <p:nvPr/>
        </p:nvSpPr>
        <p:spPr>
          <a:xfrm>
            <a:off x="1325880" y="65105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Gatekeeper (CNCF graduated) — kubernetes.io/blog/2019/08/06/opa-gatekeeper-policy-and-governance-for-kubernetes  |  Falco runtime security — github.com/falcosecurity/falco  |  GitHub: Enabling GHAS at scale (TELUS case) — resources.github.com/learn/pathways/security/essentials/enabling-github-advanced-security</a:t>
            </a:r>
            <a:endParaRPr lang="en-US" sz="800" dirty="0"/>
          </a:p>
        </p:txBody>
      </p:sp>
      <p:sp>
        <p:nvSpPr>
          <p:cNvPr id="53" name="Text 42"/>
          <p:cNvSpPr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pic>
        <p:nvPicPr>
          <p:cNvPr id="56" name="Graphic 55" descr="Wrench outline">
            <a:extLst>
              <a:ext uri="{FF2B5EF4-FFF2-40B4-BE49-F238E27FC236}">
                <a16:creationId xmlns:a16="http://schemas.microsoft.com/office/drawing/2014/main" id="{013A9069-0AEA-A6CB-8224-908BE1CC4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26664" y="2306531"/>
            <a:ext cx="342900" cy="342900"/>
          </a:xfrm>
          <a:prstGeom prst="rect">
            <a:avLst/>
          </a:prstGeom>
        </p:spPr>
      </p:pic>
      <p:pic>
        <p:nvPicPr>
          <p:cNvPr id="62" name="Graphic 61" descr="Box with solid fill">
            <a:extLst>
              <a:ext uri="{FF2B5EF4-FFF2-40B4-BE49-F238E27FC236}">
                <a16:creationId xmlns:a16="http://schemas.microsoft.com/office/drawing/2014/main" id="{CB969DFD-E303-909B-6E3B-A760158CF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05632" y="2240280"/>
            <a:ext cx="457200" cy="457200"/>
          </a:xfrm>
          <a:prstGeom prst="rect">
            <a:avLst/>
          </a:prstGeom>
        </p:spPr>
      </p:pic>
      <p:pic>
        <p:nvPicPr>
          <p:cNvPr id="64" name="Graphic 63" descr="Rocket outline">
            <a:extLst>
              <a:ext uri="{FF2B5EF4-FFF2-40B4-BE49-F238E27FC236}">
                <a16:creationId xmlns:a16="http://schemas.microsoft.com/office/drawing/2014/main" id="{19083E76-E87B-738E-2BD0-75BD2FF183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35956" y="2306531"/>
            <a:ext cx="403860" cy="403860"/>
          </a:xfrm>
          <a:prstGeom prst="rect">
            <a:avLst/>
          </a:prstGeom>
        </p:spPr>
      </p:pic>
      <p:pic>
        <p:nvPicPr>
          <p:cNvPr id="66" name="Graphic 65" descr="Gears with solid fill">
            <a:extLst>
              <a:ext uri="{FF2B5EF4-FFF2-40B4-BE49-F238E27FC236}">
                <a16:creationId xmlns:a16="http://schemas.microsoft.com/office/drawing/2014/main" id="{FFFACC4C-FCC6-CC2C-0BD6-FD939272D7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7052" y="2233896"/>
            <a:ext cx="493776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CLOUD-NATIVE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for Kubernetes, Containers &amp; IaC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shifts the attack surface — workloads are ephemeral, identities are dynamic, and infrastructure is itself code. Security must operate at every layer.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943600" cy="36576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SECURITY STACK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577840" cy="713232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9" name="Shape 7"/>
          <p:cNvSpPr/>
          <p:nvPr/>
        </p:nvSpPr>
        <p:spPr>
          <a:xfrm>
            <a:off x="777240" y="2231136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340864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53312" y="21762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53312" y="23957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detection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53312" y="26060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· eBPF probes · Tetragon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907792"/>
            <a:ext cx="5577840" cy="713232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5" name="Shape 12"/>
          <p:cNvSpPr/>
          <p:nvPr/>
        </p:nvSpPr>
        <p:spPr>
          <a:xfrm>
            <a:off x="777240" y="303580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14553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53312" y="29809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353312" y="3200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policy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353312" y="34107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Gatekeeper · Kyverno · CIS bench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" y="3712464"/>
            <a:ext cx="5577840" cy="713232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1" name="Shape 17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95020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53312" y="37856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353312" y="40050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+ sign + verify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353312" y="4215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· Cosign · SBOM attestations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0080" y="4517136"/>
            <a:ext cx="5577840" cy="713232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7" name="Shape 22"/>
          <p:cNvSpPr/>
          <p:nvPr/>
        </p:nvSpPr>
        <p:spPr>
          <a:xfrm>
            <a:off x="777240" y="4645152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754880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53312" y="45902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353312" y="4809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guardrails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353312" y="50200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· tfsec · KICS · Terrascan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629400" y="1691640"/>
            <a:ext cx="5074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1817155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15200" y="185623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Layered Defense Matters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812280" y="22128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scans miss zero-days that mutate in memory. Falco/eBPF taps the kernel to spot reverse shells, container breakouts, and crypto-miners as they happen — closing the runtime blind spot left by image scanners.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629400" y="2971800"/>
            <a:ext cx="5074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3081528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315200" y="313639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Control as the Choke Point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812280" y="349300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Gatekeeper and Kyverno reject non-compliant manifests at the K8s API server: untrusted registries, missing labels, unsigned images, or excessive privileges — enforced consistently across hundreds of clusters.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629400" y="4251960"/>
            <a:ext cx="5074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5067" y="4365829"/>
            <a:ext cx="384048" cy="38404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315200" y="44165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Scanning Stops Misconfig Before Provisioning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6812280" y="477316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ships 1,000+ policies for Terraform, CloudFormation, Helm, K8s, and Dockerfiles. Public S3 buckets, unencrypted DBs, and over-permissive IAM are caught in the PR — not in a post-incident review.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457200" y="6446520"/>
            <a:ext cx="112471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6"/>
          <p:cNvSpPr/>
          <p:nvPr/>
        </p:nvSpPr>
        <p:spPr>
          <a:xfrm>
            <a:off x="4572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46" name="Text 37"/>
          <p:cNvSpPr/>
          <p:nvPr/>
        </p:nvSpPr>
        <p:spPr>
          <a:xfrm>
            <a:off x="1325880" y="65105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eBPF runtime security — falco.org  |  OPA / Gatekeeper docs — openpolicyagent.org/docs/kubernetes  |  Checkov by Bridgecrew/Prisma Cloud — checkov.io  |  Trivy — github.com/aquasecurity/trivy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pic>
        <p:nvPicPr>
          <p:cNvPr id="50" name="Graphic 49" descr="Run with solid fill">
            <a:extLst>
              <a:ext uri="{FF2B5EF4-FFF2-40B4-BE49-F238E27FC236}">
                <a16:creationId xmlns:a16="http://schemas.microsoft.com/office/drawing/2014/main" id="{369324EF-D303-0071-A503-D705D28AF3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100" y="2258050"/>
            <a:ext cx="393192" cy="393192"/>
          </a:xfrm>
          <a:prstGeom prst="rect">
            <a:avLst/>
          </a:prstGeom>
        </p:spPr>
      </p:pic>
      <p:pic>
        <p:nvPicPr>
          <p:cNvPr id="52" name="Graphic 51" descr="Packing Box Open with solid fill">
            <a:extLst>
              <a:ext uri="{FF2B5EF4-FFF2-40B4-BE49-F238E27FC236}">
                <a16:creationId xmlns:a16="http://schemas.microsoft.com/office/drawing/2014/main" id="{DEE5CD28-BCF5-36CA-4812-9AC5F22DC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9818" y="3119476"/>
            <a:ext cx="361188" cy="361188"/>
          </a:xfrm>
          <a:prstGeom prst="rect">
            <a:avLst/>
          </a:prstGeom>
        </p:spPr>
      </p:pic>
      <p:pic>
        <p:nvPicPr>
          <p:cNvPr id="54" name="Graphic 53" descr="City with solid fill">
            <a:extLst>
              <a:ext uri="{FF2B5EF4-FFF2-40B4-BE49-F238E27FC236}">
                <a16:creationId xmlns:a16="http://schemas.microsoft.com/office/drawing/2014/main" id="{18C9E38D-F907-D110-2549-9139E1DA1E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0674" y="4695013"/>
            <a:ext cx="370332" cy="370332"/>
          </a:xfrm>
          <a:prstGeom prst="rect">
            <a:avLst/>
          </a:prstGeom>
        </p:spPr>
      </p:pic>
      <p:pic>
        <p:nvPicPr>
          <p:cNvPr id="56" name="Graphic 55" descr="Freight with solid fill">
            <a:extLst>
              <a:ext uri="{FF2B5EF4-FFF2-40B4-BE49-F238E27FC236}">
                <a16:creationId xmlns:a16="http://schemas.microsoft.com/office/drawing/2014/main" id="{074709C2-F503-B090-0CCC-B797B745DA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531" y="3869055"/>
            <a:ext cx="390906" cy="3909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TOOLS &amp; TECHNOLOGIES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DevSecOps Toolchain — and Why Each Category Exists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rarely buy a single platform. They assemble layered tools that each address a distinct attack surface, then unify alerts via ASPM dashboards.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749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749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1938528"/>
            <a:ext cx="594360" cy="59436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7568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965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6517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834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vulnerabilities in custom code before merge — taint analysis, semantic flaws.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5966" y="3418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TOOLS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5966" y="3564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· SonarQube · Semgrep · Checkmarx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97680" y="1691640"/>
            <a:ext cx="3749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297680" y="1691640"/>
            <a:ext cx="3749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526280" y="1938528"/>
            <a:ext cx="594360" cy="59436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7568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57800" y="1965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26280" y="26517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26280" y="2834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apps are 70–90% open source. Track CVEs, licenses, transitive risk in dependencies.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16446" y="3418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TOOLS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16446" y="3564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 · Dependabot · OWASP DC · Mend.io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138160" y="1691640"/>
            <a:ext cx="3749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8138160" y="1691640"/>
            <a:ext cx="3749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8366760" y="1938528"/>
            <a:ext cx="594360" cy="59436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075688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098280" y="1965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366760" y="26517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366760" y="2834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testing of running apps catches runtime issues SAST cannot — auth, business logic, configuration.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356926" y="3418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TOOLS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356926" y="3564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· Burp Suite · Beagle · Probely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57200" y="4023360"/>
            <a:ext cx="3749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9"/>
          <p:cNvSpPr/>
          <p:nvPr/>
        </p:nvSpPr>
        <p:spPr>
          <a:xfrm>
            <a:off x="457200" y="4023360"/>
            <a:ext cx="3749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685800" y="4270248"/>
            <a:ext cx="594360" cy="59436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07408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417320" y="4297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&amp; IMAGE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85800" y="49834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685800" y="5166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OS-package CVEs, base-image hygiene, and signed-image verification at the registry.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85800" y="5740603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TOOLS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685800" y="5886907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· Grype · Aqua · Sysdig · Cosign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297680" y="4023360"/>
            <a:ext cx="3749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7"/>
          <p:cNvSpPr/>
          <p:nvPr/>
        </p:nvSpPr>
        <p:spPr>
          <a:xfrm>
            <a:off x="4297680" y="4023360"/>
            <a:ext cx="3749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8"/>
          <p:cNvSpPr/>
          <p:nvPr/>
        </p:nvSpPr>
        <p:spPr>
          <a:xfrm>
            <a:off x="4526280" y="4270248"/>
            <a:ext cx="594360" cy="59436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407408"/>
            <a:ext cx="329184" cy="32918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257800" y="4297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SECURITY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4526280" y="49834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4526280" y="5166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Misconfigurations cause the majority of cloud breaches — scan Terraform, Helm, K8s pre-deploy.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4526280" y="5740603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TOOLS</a:t>
            </a:r>
            <a:endParaRPr lang="en-US" sz="1200" dirty="0"/>
          </a:p>
        </p:txBody>
      </p:sp>
      <p:sp>
        <p:nvSpPr>
          <p:cNvPr id="50" name="Text 43"/>
          <p:cNvSpPr/>
          <p:nvPr/>
        </p:nvSpPr>
        <p:spPr>
          <a:xfrm>
            <a:off x="4526280" y="5886907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· tfsec · KICS · Terrascan</a:t>
            </a:r>
            <a:endParaRPr lang="en-US" sz="1200" dirty="0"/>
          </a:p>
        </p:txBody>
      </p:sp>
      <p:sp>
        <p:nvSpPr>
          <p:cNvPr id="51" name="Shape 44"/>
          <p:cNvSpPr/>
          <p:nvPr/>
        </p:nvSpPr>
        <p:spPr>
          <a:xfrm>
            <a:off x="8138160" y="4023360"/>
            <a:ext cx="3749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45"/>
          <p:cNvSpPr/>
          <p:nvPr/>
        </p:nvSpPr>
        <p:spPr>
          <a:xfrm>
            <a:off x="8138160" y="4023360"/>
            <a:ext cx="3749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6"/>
          <p:cNvSpPr/>
          <p:nvPr/>
        </p:nvSpPr>
        <p:spPr>
          <a:xfrm>
            <a:off x="8366760" y="4270248"/>
            <a:ext cx="594360" cy="59436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407408"/>
            <a:ext cx="329184" cy="329184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9098280" y="4297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SECRETS</a:t>
            </a:r>
            <a:endParaRPr lang="en-US" sz="1400" dirty="0"/>
          </a:p>
        </p:txBody>
      </p:sp>
      <p:sp>
        <p:nvSpPr>
          <p:cNvPr id="56" name="Text 48"/>
          <p:cNvSpPr/>
          <p:nvPr/>
        </p:nvSpPr>
        <p:spPr>
          <a:xfrm>
            <a:off x="8366760" y="49834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200" dirty="0"/>
          </a:p>
        </p:txBody>
      </p:sp>
      <p:sp>
        <p:nvSpPr>
          <p:cNvPr id="57" name="Text 49"/>
          <p:cNvSpPr/>
          <p:nvPr/>
        </p:nvSpPr>
        <p:spPr>
          <a:xfrm>
            <a:off x="8366760" y="5166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itself is now a target. Detect leaked credentials and harden runners.</a:t>
            </a:r>
            <a:endParaRPr lang="en-US" sz="1200" dirty="0"/>
          </a:p>
        </p:txBody>
      </p:sp>
      <p:sp>
        <p:nvSpPr>
          <p:cNvPr id="58" name="Text 50"/>
          <p:cNvSpPr/>
          <p:nvPr/>
        </p:nvSpPr>
        <p:spPr>
          <a:xfrm>
            <a:off x="8366760" y="5740603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TOOLS</a:t>
            </a:r>
            <a:endParaRPr lang="en-US" sz="1200" dirty="0"/>
          </a:p>
        </p:txBody>
      </p:sp>
      <p:sp>
        <p:nvSpPr>
          <p:cNvPr id="59" name="Text 51"/>
          <p:cNvSpPr/>
          <p:nvPr/>
        </p:nvSpPr>
        <p:spPr>
          <a:xfrm>
            <a:off x="8366760" y="5886907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· TruffleHog · GHAS · Vault</a:t>
            </a:r>
            <a:endParaRPr lang="en-US" sz="1200" dirty="0"/>
          </a:p>
        </p:txBody>
      </p:sp>
      <p:sp>
        <p:nvSpPr>
          <p:cNvPr id="60" name="Shape 52"/>
          <p:cNvSpPr/>
          <p:nvPr/>
        </p:nvSpPr>
        <p:spPr>
          <a:xfrm>
            <a:off x="457200" y="6446520"/>
            <a:ext cx="112471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3"/>
          <p:cNvSpPr/>
          <p:nvPr/>
        </p:nvSpPr>
        <p:spPr>
          <a:xfrm>
            <a:off x="4572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1325880" y="65105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Advanced Security (CodeQL · Dependabot · Secret Scanning) — docs.github.com/en/code-security  |  Snyk Developer Platform — snyk.io  |  Aqua Trivy — aquasec.com/products/trivy  |  Bridgecrew Checkov — checkov.io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SUPPLY CHAIN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SLSA Provenance to Signed Artifacts and SBOMs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SolarWinds, Log4j, and the rise of dependency-confusion attacks, the question shifted from "is the code clean?" to "can we prove this binary came from this source via this build?"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6692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984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— BUILD-TRACK LEVELS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34440" y="2240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OpenSSF standard, originated at Google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788920"/>
            <a:ext cx="640080" cy="64008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1" name="Text 8"/>
          <p:cNvSpPr/>
          <p:nvPr/>
        </p:nvSpPr>
        <p:spPr>
          <a:xfrm>
            <a:off x="7315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63040" y="28254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provenance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63040" y="30815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most software. No verifiable build evidence.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5" name="Text 12"/>
          <p:cNvSpPr/>
          <p:nvPr/>
        </p:nvSpPr>
        <p:spPr>
          <a:xfrm>
            <a:off x="7315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63040" y="36027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exists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63040" y="38587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 emits structured metadata about the artifact.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9" name="Text 16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63040" y="4379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provenance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63040" y="46360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is cryptographically signed by a hosted build platform.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" y="5120640"/>
            <a:ext cx="640080" cy="64008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3" name="Text 20"/>
          <p:cNvSpPr/>
          <p:nvPr/>
        </p:nvSpPr>
        <p:spPr>
          <a:xfrm>
            <a:off x="73152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63040" y="51572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build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63040" y="54132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build runs · signing keys inaccessible to user steps · resists insider tampering.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0" y="178308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27" name="Shape 24"/>
          <p:cNvSpPr/>
          <p:nvPr/>
        </p:nvSpPr>
        <p:spPr>
          <a:xfrm>
            <a:off x="6400800" y="1783080"/>
            <a:ext cx="73152" cy="1737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20240"/>
            <a:ext cx="411480" cy="4114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178040" y="19019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SIGSTORE — KEYLESS SIGNING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178040" y="21214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 · Fulcio · Rekor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629400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identity → ephemeral 10-min cert → artifact signed → recorded in tamper-evident log. No long-lived keys to leak. Used by Kubernetes releases, npm, PyPI, and GitHub artifact attestations.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400800" y="36118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33" name="Shape 29"/>
          <p:cNvSpPr/>
          <p:nvPr/>
        </p:nvSpPr>
        <p:spPr>
          <a:xfrm>
            <a:off x="6400800" y="3611880"/>
            <a:ext cx="73152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749040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178040" y="37307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— INGREDIENT LIST FOR SOFTWARE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7178040" y="39502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 · SPDX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629400" y="43159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component inventory generated at build (Syft, Trivy). When the next Log4j hits, ingest SBOMs into a vulnerability platform and identify exposure in minutes — not weeks.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400800" y="5074920"/>
            <a:ext cx="5349240" cy="9601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9" name="Text 34"/>
          <p:cNvSpPr/>
          <p:nvPr/>
        </p:nvSpPr>
        <p:spPr>
          <a:xfrm>
            <a:off x="6629400" y="516636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629400" y="537667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in production carries verifiable lineage — what was built, from what source, by which pipeline, with which dependencies — checkable by an admission controller before it runs.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457200" y="6446520"/>
            <a:ext cx="112471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4572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1325880" y="65105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Framework (OpenSSF) — slsa.dev  |  Google Cloud SLSA introduction — cloud.google.com/blog/products/application-development/google-introduces-slsa-framework  |  Sigstore (Cosign · Fulcio · Rekor) — sigstore.dev  |  CycloneDX (OWASP / ECMA-424) — cyclonedx.org  |  CISA SBOM Practice Guidance — cisa.gov/sbom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AI IN DEVSECOPS  —  OPPORTUNITIES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&amp; ML Are Reshaping Pipeline Security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being deployed for triage, autofix, threat prediction, and autonomous response — augmenting human security engineers rather than replacing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6692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0A1929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214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98424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Code-Level Detection &amp; Autofix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277063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Autofix generates suggested patches for ~90% of CodeQL alert types in JS/TS/Java/Python. LLMs fine-tuned on CWE patterns (e.g., VulBERTa) outperform classical static analyzers on certain zero-day patterns.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56692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3" name="Shape 10"/>
          <p:cNvSpPr/>
          <p:nvPr/>
        </p:nvSpPr>
        <p:spPr>
          <a:xfrm>
            <a:off x="6263640" y="169164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4" name="Shape 11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0A1929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12140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198424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Triage &amp; Noise Reduction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277063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+ exploitability analysis with LLMs cuts alert backlogs sharply — surfacing the small subset that actually matters. Aikido and Snyk pair this with auto-generated remediation PRs.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3977640"/>
            <a:ext cx="56692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9" name="Shape 15"/>
          <p:cNvSpPr/>
          <p:nvPr/>
        </p:nvSpPr>
        <p:spPr>
          <a:xfrm>
            <a:off x="457200" y="397764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0" name="Shape 16"/>
          <p:cNvSpPr/>
          <p:nvPr/>
        </p:nvSpPr>
        <p:spPr>
          <a:xfrm>
            <a:off x="685800" y="4251960"/>
            <a:ext cx="640080" cy="640080"/>
          </a:xfrm>
          <a:prstGeom prst="ellipse">
            <a:avLst/>
          </a:prstGeom>
          <a:solidFill>
            <a:srgbClr val="0A1929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4074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427024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Prediction &amp; Modeling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85800" y="505663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attack-defense trees from system descriptions, automating threat-modeling workflows that previously bottlenecked on human creativity. Used in Security Chaos Engineering experiments.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63640" y="3977640"/>
            <a:ext cx="56692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25" name="Shape 20"/>
          <p:cNvSpPr/>
          <p:nvPr/>
        </p:nvSpPr>
        <p:spPr>
          <a:xfrm>
            <a:off x="6263640" y="397764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6" name="Shape 21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0A1929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40740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69480" y="427024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Incident Response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92240" y="505663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agents enrich SIEM alerts with CTI in real time and propose mitigation playbooks. Research frameworks (FALCON, AISA) extend this to autonomous IDS rule generation and reinforcement-learned remediation.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5982005"/>
            <a:ext cx="11247120" cy="43708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1" name="Text 25"/>
          <p:cNvSpPr/>
          <p:nvPr/>
        </p:nvSpPr>
        <p:spPr>
          <a:xfrm>
            <a:off x="621792" y="60579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PATTERN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most useful where it operates on rich context (commit history, CTI feeds) and proposes — not enforces — actions for humans to approve.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57200" y="6446520"/>
            <a:ext cx="112471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3" name="Text 27"/>
          <p:cNvSpPr/>
          <p:nvPr/>
        </p:nvSpPr>
        <p:spPr>
          <a:xfrm>
            <a:off x="4572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1325880" y="65105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Fu, Pasuksmit &amp; Tantithamthavorn (2024): AI for DevSecOps — A Landscape — michaelfu1998-create.github.io/papers/ai4devsecops.pdf  |  GitHub Copilot Autofix announcement — github.blog/2025-03-04-introducing-github-secret-protection-and-github-code-security  |  FALCON paper (LLM-driven IDS rules) — arxiv.org/abs/2508.18684  |  AISA framework — arxiv.org/abs/2507.07416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AI IN DEVSECOPS  —  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Adoption Has Made Visible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both defenders and attackers. The same models that propose fixes can write backdoored code if poisoned, leak secrets if mis-prompted, or hallucinate non-existent dependencies.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669280" cy="2148840"/>
          </a:xfrm>
          <a:prstGeom prst="rect">
            <a:avLst/>
          </a:prstGeom>
          <a:solidFill>
            <a:srgbClr val="0A1929"/>
          </a:solidFill>
          <a:ln w="6350">
            <a:solidFill>
              <a:srgbClr val="112844"/>
            </a:solidFill>
            <a:prstDash val="solid"/>
          </a:ln>
          <a:effectLst>
            <a:outerShdw blurRad="762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73152" cy="2148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112844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214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98424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AI-Generated Code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277063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TOSEM 2025 study found ~29.5% of Python and ~24.2% of JavaScript Copilot-generated snippets contained CWE issues. Top issues: CWE-330 (insufficient randomness), CWE-78 (OS command injection), CWE-79 (XSS).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5669280" cy="2148840"/>
          </a:xfrm>
          <a:prstGeom prst="rect">
            <a:avLst/>
          </a:prstGeom>
          <a:solidFill>
            <a:srgbClr val="0A1929"/>
          </a:solidFill>
          <a:ln w="6350">
            <a:solidFill>
              <a:srgbClr val="112844"/>
            </a:solidFill>
            <a:prstDash val="solid"/>
          </a:ln>
          <a:effectLst>
            <a:outerShdw blurRad="762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3" name="Shape 10"/>
          <p:cNvSpPr/>
          <p:nvPr/>
        </p:nvSpPr>
        <p:spPr>
          <a:xfrm>
            <a:off x="6263640" y="1691640"/>
            <a:ext cx="73152" cy="2148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4" name="Shape 11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112844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12140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198424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Attack Vectors on AI Tools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277063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Security (2025) showed hidden Unicode and rules-file injection can silently coerce Copilot/Cursor into producing backdoored code. Carefully crafted prompts have leaked credentials from training data.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3977640"/>
            <a:ext cx="5669280" cy="2148840"/>
          </a:xfrm>
          <a:prstGeom prst="rect">
            <a:avLst/>
          </a:prstGeom>
          <a:solidFill>
            <a:srgbClr val="0A1929"/>
          </a:solidFill>
          <a:ln w="6350">
            <a:solidFill>
              <a:srgbClr val="112844"/>
            </a:solidFill>
            <a:prstDash val="solid"/>
          </a:ln>
          <a:effectLst>
            <a:outerShdw blurRad="762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9" name="Shape 15"/>
          <p:cNvSpPr/>
          <p:nvPr/>
        </p:nvSpPr>
        <p:spPr>
          <a:xfrm>
            <a:off x="457200" y="3977640"/>
            <a:ext cx="73152" cy="2148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0" name="Shape 16"/>
          <p:cNvSpPr/>
          <p:nvPr/>
        </p:nvSpPr>
        <p:spPr>
          <a:xfrm>
            <a:off x="685800" y="4251960"/>
            <a:ext cx="640080" cy="640080"/>
          </a:xfrm>
          <a:prstGeom prst="ellipse">
            <a:avLst/>
          </a:prstGeom>
          <a:solidFill>
            <a:srgbClr val="112844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4074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427024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Explainability, Compliance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85800" y="505663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LLM autonomously triages or remediates, audit trails must show why. SHAP/LIME-style techniques are being adapted, but accountability for AI-driven security decisions remains an open question.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63640" y="3977640"/>
            <a:ext cx="5669280" cy="2148840"/>
          </a:xfrm>
          <a:prstGeom prst="rect">
            <a:avLst/>
          </a:prstGeom>
          <a:solidFill>
            <a:srgbClr val="0A1929"/>
          </a:solidFill>
          <a:ln w="6350">
            <a:solidFill>
              <a:srgbClr val="112844"/>
            </a:solidFill>
            <a:prstDash val="solid"/>
          </a:ln>
          <a:effectLst>
            <a:outerShdw blurRad="762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25" name="Shape 20"/>
          <p:cNvSpPr/>
          <p:nvPr/>
        </p:nvSpPr>
        <p:spPr>
          <a:xfrm>
            <a:off x="6263640" y="3977640"/>
            <a:ext cx="73152" cy="2148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6" name="Shape 21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112844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40740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69480" y="427024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Dual-Use &amp; Adversarial AI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92240" y="505663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models that detect malware can craft polymorphic variants. Federated learning, sandboxed agents, and human-in-the-loop are emerging as required guardrails — not optional.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5943600"/>
            <a:ext cx="1124712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1" name="Text 25"/>
          <p:cNvSpPr/>
          <p:nvPr/>
        </p:nvSpPr>
        <p:spPr>
          <a:xfrm>
            <a:off x="640080" y="600488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RULE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AI-generated code like any third-party contribution — scan it, review it, and require the same provenance and tests applied to humans.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57200" y="6446520"/>
            <a:ext cx="112471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3" name="Text 27"/>
          <p:cNvSpPr/>
          <p:nvPr/>
        </p:nvSpPr>
        <p:spPr>
          <a:xfrm>
            <a:off x="4572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1325880" y="65105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 et al. (2024) Security Weaknesses of Copilot Code, ACM TOSEM — dl.acm.org/doi/10.1145/3716848  |  Tippe (2025) Vulnerabilities in AI-Generated Code — arxiv.org/abs/2510.26103  |  Pillar Security on Copilot/Cursor injection — pillar.security/blog/new-vulnerability-in-github-copilot-and-cursor-how-hackers-can-weaponize-code-agents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651759" y="100584"/>
            <a:ext cx="45719" cy="6145661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47288" y="346989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WHERE THIS IS HEADING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47288" y="587839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DevSecOps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47288" y="1141569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converging frontiers shaping the next 24–36 months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228164" y="1823538"/>
            <a:ext cx="640080" cy="6400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228164" y="484149"/>
            <a:ext cx="640080" cy="64008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228164" y="3228314"/>
            <a:ext cx="640080" cy="64008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258119" y="4609082"/>
            <a:ext cx="640080" cy="64008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429000" y="1641348"/>
            <a:ext cx="8183880" cy="960120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2" name="Shape 6"/>
          <p:cNvSpPr/>
          <p:nvPr/>
        </p:nvSpPr>
        <p:spPr>
          <a:xfrm>
            <a:off x="3611880" y="1824228"/>
            <a:ext cx="594360" cy="594360"/>
          </a:xfrm>
          <a:prstGeom prst="ellipse">
            <a:avLst/>
          </a:prstGeom>
          <a:solidFill>
            <a:srgbClr val="0A1929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8184" y="1970532"/>
            <a:ext cx="310896" cy="3108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3400" y="175107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PIPELINES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343400" y="2025396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AI agents in CI/CD propose patches, reorder tests by risk, and gate merges on contextual exploitability — not generic CVSS scores.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3429000" y="2692908"/>
            <a:ext cx="8183880" cy="960120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7" name="Shape 10"/>
          <p:cNvSpPr/>
          <p:nvPr/>
        </p:nvSpPr>
        <p:spPr>
          <a:xfrm>
            <a:off x="3611880" y="2875788"/>
            <a:ext cx="594360" cy="594360"/>
          </a:xfrm>
          <a:prstGeom prst="ellipse">
            <a:avLst/>
          </a:prstGeom>
          <a:solidFill>
            <a:srgbClr val="0A1929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184" y="3022092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343400" y="280263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SECURITY SYSTEMS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343400" y="3076956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Reinforcement-learned response: detect → prioritize → remediate without human latency. Human-in-the-loop reserved for high-blast-radius decisions.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3429000" y="3744468"/>
            <a:ext cx="8183880" cy="960120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2" name="Shape 14"/>
          <p:cNvSpPr/>
          <p:nvPr/>
        </p:nvSpPr>
        <p:spPr>
          <a:xfrm>
            <a:off x="3611880" y="3927348"/>
            <a:ext cx="594360" cy="594360"/>
          </a:xfrm>
          <a:prstGeom prst="ellipse">
            <a:avLst/>
          </a:prstGeom>
          <a:solidFill>
            <a:srgbClr val="0A1929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8184" y="4073652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343400" y="385419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+ MLOps CONVERGENCE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4343400" y="4128516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inherit DevSecOps controls: AI/ML-BOMs (CycloneDX 1.6+), model signing, training-data provenance, and adversarial-input testing.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3429000" y="4796028"/>
            <a:ext cx="8183880" cy="960120"/>
          </a:xfrm>
          <a:prstGeom prst="rect">
            <a:avLst/>
          </a:prstGeom>
          <a:solidFill>
            <a:srgbClr val="112844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7" name="Shape 18"/>
          <p:cNvSpPr/>
          <p:nvPr/>
        </p:nvSpPr>
        <p:spPr>
          <a:xfrm>
            <a:off x="3611880" y="4978908"/>
            <a:ext cx="594360" cy="594360"/>
          </a:xfrm>
          <a:prstGeom prst="ellipse">
            <a:avLst/>
          </a:prstGeom>
          <a:solidFill>
            <a:srgbClr val="0A1929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8184" y="5125212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343400" y="490575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+ VERIFIABLE SUPPLY CHAIN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4343400" y="5180076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artifact, identity, and pipeline step is cryptographically attested. SLSA Level 3+ becomes table-stakes; cluster admission denies anything unverified.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457200" y="5989851"/>
            <a:ext cx="11247120" cy="10973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2"/>
          <p:cNvSpPr/>
          <p:nvPr/>
        </p:nvSpPr>
        <p:spPr>
          <a:xfrm>
            <a:off x="457200" y="6088969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THE BOTTOM LINE</a:t>
            </a:r>
            <a:endParaRPr lang="en-US" sz="800" dirty="0"/>
          </a:p>
        </p:txBody>
      </p:sp>
      <p:sp>
        <p:nvSpPr>
          <p:cNvPr id="33" name="Text 23"/>
          <p:cNvSpPr/>
          <p:nvPr/>
        </p:nvSpPr>
        <p:spPr>
          <a:xfrm>
            <a:off x="2761488" y="6053501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becoming a property the platform proves — automatically, continuously, and verifiably.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10607040" y="6519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  <p:sp>
        <p:nvSpPr>
          <p:cNvPr id="35" name="Text 25"/>
          <p:cNvSpPr/>
          <p:nvPr/>
        </p:nvSpPr>
        <p:spPr>
          <a:xfrm>
            <a:off x="457200" y="629892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 •  Anthropic Press: AI for DevSecOps research — arxiv.org/abs/2504.19154  |  CycloneDX AI/ML-BOM specification — cyclonedx.org/capabilities/mlbom  |  NIST Zero Trust Architecture (SP 800-207) — csrc.nist.gov/publications/detail/sp/800-207/final  |  OpenSSF SLSA v1.0 specification — slsa.dev/spec/v1.0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2472</Words>
  <Application>Microsoft Office PowerPoint</Application>
  <PresentationFormat>Widescreen</PresentationFormat>
  <Paragraphs>237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State of DevSecOps: Practices, Tools &amp; AI in the Modern Enterprise</dc:title>
  <dc:subject>PptxGenJS Presentation</dc:subject>
  <dc:creator>DevSecOps Research</dc:creator>
  <cp:lastModifiedBy>Madhanraj J</cp:lastModifiedBy>
  <cp:revision>3</cp:revision>
  <dcterms:created xsi:type="dcterms:W3CDTF">2026-04-27T05:57:03Z</dcterms:created>
  <dcterms:modified xsi:type="dcterms:W3CDTF">2026-04-27T12:26:21Z</dcterms:modified>
</cp:coreProperties>
</file>