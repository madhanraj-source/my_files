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F4B41A">
              <a:alpha val="12000"/>
            </a:srgbClr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8016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PROPOSAL  ·  CLI-FIRST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CloudCostOps CLI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 +  Gauss  +  </a:t>
            </a:r>
            <a:pPr indent="0" marL="0">
              <a:buNone/>
            </a:pPr>
            <a:r>
              <a:rPr lang="en-US" sz="2800" b="1" i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Terminal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self-hosted FinOps assistant that lives in the shell — and never leaves your network.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736592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473659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4736592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 /  ccops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166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ccops anomaly --last-week --explain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 cluster cost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+23%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week-over-week.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Root cause: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node-group-prod-3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(checkout-svc v2.4 deploy, May 6)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6355080"/>
            <a:ext cx="1371600" cy="0"/>
          </a:xfrm>
          <a:prstGeom prst="line">
            <a:avLst/>
          </a:prstGeom>
          <a:noFill/>
          <a:ln w="25400">
            <a:solidFill>
              <a:srgbClr val="F4B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CLI vs Chatbot  ·  Examples  ·  Security  ·  V2 Roadmap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·  V1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V1 Stack: Three Components, One Boundary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what works (OptScale), add the smallest thin layer possible, expose via CLI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1691640"/>
            <a:ext cx="24688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A3C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89280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Billing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691640"/>
            <a:ext cx="24688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A3C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928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Mgmt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589520" y="1691640"/>
            <a:ext cx="24688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A3C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9280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Billing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337560" y="2377440"/>
            <a:ext cx="0" cy="2286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080760" y="2377440"/>
            <a:ext cx="0" cy="2286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823960" y="2377440"/>
            <a:ext cx="0" cy="2286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40080" y="2606040"/>
            <a:ext cx="1088136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8036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2651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 (open source — already does the heavy lifting)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1371600" y="297180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F2C4D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3716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566160" y="297180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F2C4D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5661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760720" y="297180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F2C4D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76072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955280" y="297180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0F2C4D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95528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080760" y="3474720"/>
            <a:ext cx="0" cy="22860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640080" y="3657600"/>
            <a:ext cx="10881360" cy="86868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3192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7160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SERVICE  (the only new thing you build — ~500 lines of Python)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1371600" y="402336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1C3D63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37160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CLI args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3566160" y="402336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1C3D63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56616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from OptScale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760720" y="402336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1C3D63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76072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Gauss prompt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955280" y="4023360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1C3D63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95528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output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080760" y="4526280"/>
            <a:ext cx="0" cy="22860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640080" y="4663440"/>
            <a:ext cx="10881360" cy="86868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92040"/>
            <a:ext cx="411480" cy="4114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417320" y="4709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 (internal LLM — runs inside Samsung network)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417320" y="5029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[SYSTEM + CONTEXT + USER] prompt → returns plain-English reasoning. No data leaves the corporate network.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080760" y="5532120"/>
            <a:ext cx="0" cy="22860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2880360" y="576072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0B1220"/>
          </a:solidFill>
          <a:ln w="25400">
            <a:solidFill>
              <a:srgbClr val="F4B41A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0" y="6035040"/>
            <a:ext cx="292608" cy="29260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3566160" y="576072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ccops </a:t>
            </a:r>
            <a:pPr indent="0" marL="0">
              <a:buNone/>
            </a:pPr>
            <a:r>
              <a:rPr lang="en-US" sz="1600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&lt;command&gt;</a:t>
            </a:r>
            <a:endParaRPr lang="en-US" sz="1600" dirty="0"/>
          </a:p>
        </p:txBody>
      </p:sp>
      <p:sp>
        <p:nvSpPr>
          <p:cNvPr id="50" name="Text 41"/>
          <p:cNvSpPr/>
          <p:nvPr/>
        </p:nvSpPr>
        <p:spPr>
          <a:xfrm>
            <a:off x="3566160" y="6355080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in terminal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0" y="1965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0" y="2651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0" y="2880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</a:t>
            </a:r>
            <a:endParaRPr lang="en-US" sz="800" dirty="0"/>
          </a:p>
        </p:txBody>
      </p:sp>
      <p:sp>
        <p:nvSpPr>
          <p:cNvPr id="55" name="Text 46"/>
          <p:cNvSpPr/>
          <p:nvPr/>
        </p:nvSpPr>
        <p:spPr>
          <a:xfrm>
            <a:off x="0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0" y="3931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800" dirty="0"/>
          </a:p>
        </p:txBody>
      </p:sp>
      <p:sp>
        <p:nvSpPr>
          <p:cNvPr id="57" name="Text 48"/>
          <p:cNvSpPr/>
          <p:nvPr/>
        </p:nvSpPr>
        <p:spPr>
          <a:xfrm>
            <a:off x="0" y="4709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00" dirty="0"/>
          </a:p>
        </p:txBody>
      </p:sp>
      <p:sp>
        <p:nvSpPr>
          <p:cNvPr id="58" name="Text 49"/>
          <p:cNvSpPr/>
          <p:nvPr/>
        </p:nvSpPr>
        <p:spPr>
          <a:xfrm>
            <a:off x="0" y="4937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</a:t>
            </a:r>
            <a:endParaRPr lang="en-US" sz="800" dirty="0"/>
          </a:p>
        </p:txBody>
      </p:sp>
      <p:sp>
        <p:nvSpPr>
          <p:cNvPr id="59" name="Text 50"/>
          <p:cNvSpPr/>
          <p:nvPr/>
        </p:nvSpPr>
        <p:spPr>
          <a:xfrm>
            <a:off x="0" y="5806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000" dirty="0"/>
          </a:p>
        </p:txBody>
      </p:sp>
      <p:sp>
        <p:nvSpPr>
          <p:cNvPr id="60" name="Text 51"/>
          <p:cNvSpPr/>
          <p:nvPr/>
        </p:nvSpPr>
        <p:spPr>
          <a:xfrm>
            <a:off x="0" y="6035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·  CLI vs CHATBOT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 Wins for V1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is a great V2 — but the CLI ships in weeks, not months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4251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53492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6479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00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 ·  $ ccops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6032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468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ship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34440" y="27249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frontend, no OAuth, no public webhook to secure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089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Engineer-native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32735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already live in the terminal — zero learning curve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5760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566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34440" y="38221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into other tools, run in CI/CD, schedule via cron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0624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4114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Trivially secure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234440" y="43708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endpoint. Access via SSH/VPN to a jump host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754880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34440" y="46634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1234440" y="4919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history + structured logs = full provenance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0352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34440" y="5212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offline-ish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1234440" y="5468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 your terminal does — no UI server needed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6172200" y="1600200"/>
            <a:ext cx="534924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6172200" y="1600200"/>
            <a:ext cx="534924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764792"/>
            <a:ext cx="320040" cy="320040"/>
          </a:xfrm>
          <a:prstGeom prst="rect">
            <a:avLst/>
          </a:prstGeom>
        </p:spPr>
      </p:pic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764792"/>
            <a:ext cx="320040" cy="32004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858000" y="1600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 ·  Slack / Teams</a:t>
            </a:r>
            <a:endParaRPr lang="en-US" sz="18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560320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766560" y="2468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app build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6766560" y="27249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setup, app manifest, distribution, scopes review</a:t>
            </a:r>
            <a:endParaRPr lang="en-US" sz="10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108960"/>
            <a:ext cx="256032" cy="25603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76656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webhook</a:t>
            </a:r>
            <a:endParaRPr lang="en-US" sz="1300" dirty="0"/>
          </a:p>
        </p:txBody>
      </p:sp>
      <p:sp>
        <p:nvSpPr>
          <p:cNvPr id="38" name="Text 25"/>
          <p:cNvSpPr/>
          <p:nvPr/>
        </p:nvSpPr>
        <p:spPr>
          <a:xfrm>
            <a:off x="6766560" y="32735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HMAC, that's an externally reachable endpoint</a:t>
            </a:r>
            <a:endParaRPr lang="en-US" sz="10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657600"/>
            <a:ext cx="256032" cy="25603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766560" y="3566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</a:t>
            </a:r>
            <a:endParaRPr lang="en-US" sz="1300" dirty="0"/>
          </a:p>
        </p:txBody>
      </p:sp>
      <p:sp>
        <p:nvSpPr>
          <p:cNvPr id="41" name="Text 27"/>
          <p:cNvSpPr/>
          <p:nvPr/>
        </p:nvSpPr>
        <p:spPr>
          <a:xfrm>
            <a:off x="6766560" y="38221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state, message threading, error formatting</a:t>
            </a:r>
            <a:endParaRPr lang="en-US" sz="10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206240"/>
            <a:ext cx="256032" cy="256032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766560" y="4114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 management</a:t>
            </a:r>
            <a:endParaRPr lang="en-US" sz="1300" dirty="0"/>
          </a:p>
        </p:txBody>
      </p:sp>
      <p:sp>
        <p:nvSpPr>
          <p:cNvPr id="44" name="Text 29"/>
          <p:cNvSpPr/>
          <p:nvPr/>
        </p:nvSpPr>
        <p:spPr>
          <a:xfrm>
            <a:off x="6766560" y="43708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Slack user → corp identity → cost-center permissions</a:t>
            </a:r>
            <a:endParaRPr lang="en-US" sz="100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754880"/>
            <a:ext cx="256032" cy="256032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6766560" y="46634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1300" dirty="0"/>
          </a:p>
        </p:txBody>
      </p:sp>
      <p:sp>
        <p:nvSpPr>
          <p:cNvPr id="47" name="Text 31"/>
          <p:cNvSpPr/>
          <p:nvPr/>
        </p:nvSpPr>
        <p:spPr>
          <a:xfrm>
            <a:off x="6766560" y="4919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endpoint triggers an InfoSec ticket</a:t>
            </a:r>
            <a:endParaRPr lang="en-US" sz="10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5303520"/>
            <a:ext cx="256032" cy="256032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6766560" y="5212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Months, not weeks</a:t>
            </a:r>
            <a:endParaRPr lang="en-US" sz="1300" dirty="0"/>
          </a:p>
        </p:txBody>
      </p:sp>
      <p:sp>
        <p:nvSpPr>
          <p:cNvPr id="50" name="Text 33"/>
          <p:cNvSpPr/>
          <p:nvPr/>
        </p:nvSpPr>
        <p:spPr>
          <a:xfrm>
            <a:off x="6766560" y="5468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scope is 3-5× the CLI for the same conversational value</a:t>
            </a:r>
            <a:endParaRPr lang="en-US" sz="1000" dirty="0"/>
          </a:p>
        </p:txBody>
      </p:sp>
      <p:sp>
        <p:nvSpPr>
          <p:cNvPr id="51" name="Shape 34"/>
          <p:cNvSpPr/>
          <p:nvPr/>
        </p:nvSpPr>
        <p:spPr>
          <a:xfrm>
            <a:off x="640080" y="6035040"/>
            <a:ext cx="10881360" cy="64008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52" name="Text 35"/>
          <p:cNvSpPr/>
          <p:nvPr/>
        </p:nvSpPr>
        <p:spPr>
          <a:xfrm>
            <a:off x="777240" y="6035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Ship the CLI first. It delivers 90% of the value at 20% of the build cost — and the Bridge code you write is fully reusable when you add a chatbot in V2.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·  EXAMPLES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 Action: Four Real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engineer actually types — and what they see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cost spikes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84248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84248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984248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94560"/>
            <a:ext cx="53035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58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ccops anomaly --last-week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5603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EKS cluster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+23%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WoW (root: node-group-prod-3)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S3 us-east-1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+11%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(root: log retention)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plain-English cost breakdown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984248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984248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984248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194560"/>
            <a:ext cx="53035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258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ccops cost --service eks --explain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5603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 spend this month: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$24,180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driver: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prod-cluster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(62%)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Trending up — check HPA settings.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the most impactful actions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407408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407408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4407408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617720"/>
            <a:ext cx="53035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681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ccops recommend --top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9834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Rightsize 8 EC2 dev → save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$1,840/mo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14 idle EBS →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$420/mo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SP for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 RDS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3977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into existing tools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29768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407408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4407408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4407408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617720"/>
            <a:ext cx="53035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681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ccops report --monthly | mail -s 'May FinOps' boss@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49834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May summary...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$184,302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(-3.2% MoM)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 to boss@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 </a:t>
            </a:r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Every command follows </a:t>
            </a:r>
            <a:pPr algn="ctr" indent="0" marL="0">
              <a:buNone/>
            </a:pPr>
            <a:r>
              <a:rPr lang="en-US" sz="1200" b="1" i="1" dirty="0">
                <a:solidFill>
                  <a:srgbClr val="0F2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ccops &lt;verb&gt; [--filters] [--explain]</a:t>
            </a:r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Reasoning comes from Gauss, data from OptScale.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 · 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Data Stays Private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inside one trust boundary — and concrete controls at every hop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1600200"/>
            <a:ext cx="9235440" cy="3840480"/>
          </a:xfrm>
          <a:prstGeom prst="rect">
            <a:avLst/>
          </a:prstGeom>
          <a:solidFill>
            <a:srgbClr val="E8F1F5"/>
          </a:solidFill>
          <a:ln w="25400">
            <a:solidFill>
              <a:srgbClr val="1C729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91640" y="1435608"/>
            <a:ext cx="3017520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4813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14356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NETWORK · PRIVATE VPC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737360" y="2057400"/>
            <a:ext cx="19659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C4D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54580" y="2240280"/>
            <a:ext cx="731520" cy="731520"/>
          </a:xfrm>
          <a:prstGeom prst="ellipse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72" y="24048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017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828800" y="3291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engineer's laptop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VPN/SSH)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721608" y="2606040"/>
            <a:ext cx="237744" cy="0"/>
          </a:xfrm>
          <a:prstGeom prst="line">
            <a:avLst/>
          </a:prstGeom>
          <a:noFill/>
          <a:ln w="254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977640" y="2057400"/>
            <a:ext cx="19659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C4D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94860" y="2240280"/>
            <a:ext cx="731520" cy="731520"/>
          </a:xfrm>
          <a:prstGeom prst="ellipse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452" y="24048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77640" y="3017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069080" y="3291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961888" y="2606040"/>
            <a:ext cx="237744" cy="0"/>
          </a:xfrm>
          <a:prstGeom prst="line">
            <a:avLst/>
          </a:prstGeom>
          <a:noFill/>
          <a:ln w="254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217920" y="2057400"/>
            <a:ext cx="19659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C4D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35140" y="2240280"/>
            <a:ext cx="731520" cy="731520"/>
          </a:xfrm>
          <a:prstGeom prst="ellipse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732" y="240487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17920" y="3017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309360" y="3291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volumes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202168" y="2606040"/>
            <a:ext cx="237744" cy="0"/>
          </a:xfrm>
          <a:prstGeom prst="line">
            <a:avLst/>
          </a:prstGeom>
          <a:noFill/>
          <a:ln w="254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458200" y="2057400"/>
            <a:ext cx="19659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C4D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075420" y="2240280"/>
            <a:ext cx="731520" cy="731520"/>
          </a:xfrm>
          <a:prstGeom prst="ellipse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012" y="240487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458200" y="3017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API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8549640" y="3291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endpoint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10927080" y="2880360"/>
            <a:ext cx="1097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840" y="306324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92708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1092708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(TLS, read-only)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10927080" y="3520440"/>
            <a:ext cx="-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548640" y="56235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760720"/>
            <a:ext cx="228600" cy="2286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0584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endpoints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2788920" y="56235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0" y="5760720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24612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everywhere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5029200" y="56235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5760720"/>
            <a:ext cx="228600" cy="2286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48640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SSO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7269480" y="56235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5760720"/>
            <a:ext cx="228600" cy="22860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72668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sanitization</a:t>
            </a:r>
            <a:endParaRPr lang="en-US" sz="1100" dirty="0"/>
          </a:p>
        </p:txBody>
      </p:sp>
      <p:sp>
        <p:nvSpPr>
          <p:cNvPr id="50" name="Shape 38"/>
          <p:cNvSpPr/>
          <p:nvPr/>
        </p:nvSpPr>
        <p:spPr>
          <a:xfrm>
            <a:off x="9509760" y="56235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6920" y="5760720"/>
            <a:ext cx="228600" cy="22860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996696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endParaRPr lang="en-US" sz="1100" dirty="0"/>
          </a:p>
        </p:txBody>
      </p:sp>
      <p:sp>
        <p:nvSpPr>
          <p:cNvPr id="53" name="Text 40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data leaving your network is the TLS-encrypted cloud API call OptScale already makes today.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 ·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&amp; Beyond: Where This Goes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V1, prove value, then layer these in — each builds on the V1 Bridge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" y="15544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" y="1554480"/>
            <a:ext cx="109728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154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" y="1737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05940" y="1691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Memory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71900" y="1755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months after V1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6380" y="21945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1540" y="21945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ChromaDB to remember past queries, decisions, and your environment's patterns. The bot stops being amnesiac.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136392"/>
            <a:ext cx="146304" cy="1463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65860" y="310896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across sessions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337560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65860" y="331012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repeat questions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538728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65860" y="351129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environment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195060" y="15544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195060" y="1554480"/>
            <a:ext cx="109728" cy="219456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69380" y="1737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69380" y="1737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83780" y="1691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Bot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349740" y="1755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months after V1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220" y="21945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69380" y="21945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same Bridge service in a chat interface so non-CLI users (finance, leadership) can ask too. Same code, new front door.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3136392"/>
            <a:ext cx="146304" cy="1463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43700" y="310896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finance &amp; execs</a:t>
            </a:r>
            <a:endParaRPr lang="en-US" sz="10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337560"/>
            <a:ext cx="146304" cy="1463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43700" y="331012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</a:t>
            </a:r>
            <a:endParaRPr lang="en-US" sz="10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3538728"/>
            <a:ext cx="146304" cy="14630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43700" y="351129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Bridge entirely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17220" y="393192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17220" y="3931920"/>
            <a:ext cx="109728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891540" y="41148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891540" y="41148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V2.5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1805940" y="4069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</a:t>
            </a:r>
            <a:endParaRPr lang="en-US" sz="1800" dirty="0"/>
          </a:p>
        </p:txBody>
      </p:sp>
      <p:sp>
        <p:nvSpPr>
          <p:cNvPr id="39" name="Text 29"/>
          <p:cNvSpPr/>
          <p:nvPr/>
        </p:nvSpPr>
        <p:spPr>
          <a:xfrm>
            <a:off x="3771900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months after V1</a:t>
            </a:r>
            <a:endParaRPr lang="en-US" sz="10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6380" y="4572000"/>
            <a:ext cx="365760" cy="3657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91540" y="45720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Kubecost for pod-level K8s costs and Steampipe for live SQL across clouds. Gauss picks the right source per question.</a:t>
            </a:r>
            <a:endParaRPr lang="en-US" sz="11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" y="5513832"/>
            <a:ext cx="146304" cy="14630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165860" y="548640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Pod-level granularity</a:t>
            </a:r>
            <a:endParaRPr lang="en-US" sz="10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60" y="5715000"/>
            <a:ext cx="146304" cy="14630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1165860" y="568756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queries</a:t>
            </a:r>
            <a:endParaRPr lang="en-US" sz="10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260" y="5916168"/>
            <a:ext cx="146304" cy="14630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1165860" y="588873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Cross-cloud joins</a:t>
            </a:r>
            <a:endParaRPr lang="en-US" sz="1000" dirty="0"/>
          </a:p>
        </p:txBody>
      </p:sp>
      <p:sp>
        <p:nvSpPr>
          <p:cNvPr id="48" name="Shape 34"/>
          <p:cNvSpPr/>
          <p:nvPr/>
        </p:nvSpPr>
        <p:spPr>
          <a:xfrm>
            <a:off x="6195060" y="393192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49" name="Shape 35"/>
          <p:cNvSpPr/>
          <p:nvPr/>
        </p:nvSpPr>
        <p:spPr>
          <a:xfrm>
            <a:off x="6195060" y="3931920"/>
            <a:ext cx="109728" cy="219456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>
            <a:off x="6469380" y="41148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51" name="Text 37"/>
          <p:cNvSpPr/>
          <p:nvPr/>
        </p:nvSpPr>
        <p:spPr>
          <a:xfrm>
            <a:off x="6469380" y="41148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52" name="Text 38"/>
          <p:cNvSpPr/>
          <p:nvPr/>
        </p:nvSpPr>
        <p:spPr>
          <a:xfrm>
            <a:off x="7383780" y="4069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1800" dirty="0"/>
          </a:p>
        </p:txBody>
      </p:sp>
      <p:sp>
        <p:nvSpPr>
          <p:cNvPr id="53" name="Text 39"/>
          <p:cNvSpPr/>
          <p:nvPr/>
        </p:nvSpPr>
        <p:spPr>
          <a:xfrm>
            <a:off x="9349740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months after V1</a:t>
            </a:r>
            <a:endParaRPr lang="en-US" sz="10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4220" y="4572000"/>
            <a:ext cx="365760" cy="36576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469380" y="45720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— let the agent apply Cloud Custodian policies, trigger K8s VPA adjustments, and right-size automatically with guardrails.</a:t>
            </a:r>
            <a:endParaRPr lang="en-US" sz="1100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5513832"/>
            <a:ext cx="146304" cy="146304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6743700" y="548640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→ action</a:t>
            </a:r>
            <a:endParaRPr lang="en-US" sz="1000" dirty="0"/>
          </a:p>
        </p:txBody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0" y="5715000"/>
            <a:ext cx="146304" cy="146304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6743700" y="568756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optimization</a:t>
            </a:r>
            <a:endParaRPr lang="en-US" sz="1000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5916168"/>
            <a:ext cx="146304" cy="146304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6743700" y="588873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Hands-off savings</a:t>
            </a:r>
            <a:endParaRPr lang="en-US" sz="1000" dirty="0"/>
          </a:p>
        </p:txBody>
      </p:sp>
      <p:sp>
        <p:nvSpPr>
          <p:cNvPr id="62" name="Shape 44"/>
          <p:cNvSpPr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63" name="Text 45"/>
          <p:cNvSpPr/>
          <p:nvPr/>
        </p:nvSpPr>
        <p:spPr>
          <a:xfrm>
            <a:off x="777240" y="6400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V1 is small enough to ship. Every later phase reuses the Bridge service — no rewrites, only additions.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CloudCostOps CLI — V1 Architecture</dc:title>
  <dc:subject>PptxGenJS Presentation</dc:subject>
  <dc:creator>PptxGenJS</dc:creator>
  <cp:lastModifiedBy>PptxGenJS</cp:lastModifiedBy>
  <cp:revision>1</cp:revision>
  <dcterms:created xsi:type="dcterms:W3CDTF">2026-05-13T10:34:51Z</dcterms:created>
  <dcterms:modified xsi:type="dcterms:W3CDTF">2026-05-13T10:34:51Z</dcterms:modified>
</cp:coreProperties>
</file>