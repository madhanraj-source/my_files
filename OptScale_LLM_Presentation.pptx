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F4B41A">
              <a:alpha val="15000"/>
            </a:srgbClr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+ LLM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Work Together — and the </a:t>
            </a:r>
            <a:pPr indent="0" marL="0">
              <a:buNone/>
            </a:pPr>
            <a:r>
              <a:rPr lang="en-US" sz="28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Approach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589520" y="4389120"/>
            <a:ext cx="1005840" cy="10058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681728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0" y="4892040"/>
            <a:ext cx="822960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601200" y="4389120"/>
            <a:ext cx="1005840" cy="1005840"/>
          </a:xfrm>
          <a:prstGeom prst="ellipse">
            <a:avLst/>
          </a:prstGeom>
          <a:solidFill>
            <a:srgbClr val="F4B41A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08" y="468172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0" y="5440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6035040"/>
            <a:ext cx="1371600" cy="0"/>
          </a:xfrm>
          <a:prstGeom prst="line">
            <a:avLst/>
          </a:prstGeom>
          <a:noFill/>
          <a:ln w="25400">
            <a:solidFill>
              <a:srgbClr val="F4B41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Use Cases · Limitations · Better Path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OptScale + LLM Work Together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 from raw cloud data to natural-language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8076" y="146304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8076" y="1463040"/>
            <a:ext cx="205740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96796" y="15087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836676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93852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0956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LAYER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90956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cost data from AWS, Azure, GCP, K8s. Runs anomaly detection &amp; rightsizing rules.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30068" y="146304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30068" y="1463040"/>
            <a:ext cx="205740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18788" y="15087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15" name="Shape 12"/>
          <p:cNvSpPr/>
          <p:nvPr/>
        </p:nvSpPr>
        <p:spPr>
          <a:xfrm>
            <a:off x="3058668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116" y="1938528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012948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3012948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SERVICE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012948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service polls OptScale's REST API and reshapes the data into clean JSON.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52060" y="146304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052060" y="1463040"/>
            <a:ext cx="205740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40780" y="15087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23" name="Shape 19"/>
          <p:cNvSpPr/>
          <p:nvPr/>
        </p:nvSpPr>
        <p:spPr>
          <a:xfrm>
            <a:off x="528066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108" y="193852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3494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5234940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BUILDER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234940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payloads go inline. Large datasets get embedded into a vector DB (RAG pattern).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274052" y="146304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274052" y="1463040"/>
            <a:ext cx="2057400" cy="1280160"/>
          </a:xfrm>
          <a:prstGeom prst="rect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462772" y="15087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400" dirty="0"/>
          </a:p>
        </p:txBody>
      </p:sp>
      <p:sp>
        <p:nvSpPr>
          <p:cNvPr id="31" name="Shape 26"/>
          <p:cNvSpPr/>
          <p:nvPr/>
        </p:nvSpPr>
        <p:spPr>
          <a:xfrm>
            <a:off x="7502652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0" y="1938528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56932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7456932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456932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or hosted LLM receives data + question, generates plain-English analysis.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496044" y="1463040"/>
            <a:ext cx="2057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496044" y="1463040"/>
            <a:ext cx="205740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684764" y="15087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400" dirty="0"/>
          </a:p>
        </p:txBody>
      </p:sp>
      <p:sp>
        <p:nvSpPr>
          <p:cNvPr id="39" name="Shape 33"/>
          <p:cNvSpPr/>
          <p:nvPr/>
        </p:nvSpPr>
        <p:spPr>
          <a:xfrm>
            <a:off x="9724644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092" y="1938528"/>
            <a:ext cx="320040" cy="3200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78924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2200" dirty="0"/>
          </a:p>
        </p:txBody>
      </p:sp>
      <p:sp>
        <p:nvSpPr>
          <p:cNvPr id="42" name="Text 35"/>
          <p:cNvSpPr/>
          <p:nvPr/>
        </p:nvSpPr>
        <p:spPr>
          <a:xfrm>
            <a:off x="9678924" y="32461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ACTION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9678924" y="361188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reads a natural language answer. Optional actions feed back to Custodian or VPA.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2674620" y="2057400"/>
            <a:ext cx="146304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4896612" y="2057400"/>
            <a:ext cx="146304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6" name="Shape 39"/>
          <p:cNvSpPr/>
          <p:nvPr/>
        </p:nvSpPr>
        <p:spPr>
          <a:xfrm>
            <a:off x="7118604" y="2057400"/>
            <a:ext cx="146304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7" name="Shape 40"/>
          <p:cNvSpPr/>
          <p:nvPr/>
        </p:nvSpPr>
        <p:spPr>
          <a:xfrm>
            <a:off x="9340596" y="2057400"/>
            <a:ext cx="146304" cy="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8" name="Text 41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provides the facts. The LLM provides the reasoning. Together they enable conversational FinOps.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Unlocks: Conversational FinOps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— engineer, finance, exec — asks in plain English. No dashboards, no SQL, no filters.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Investigation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our AWS bill jump 15% last week?”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606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correlates OptScale's anomaly flags with deployment timing and gives a one-paragraph root cause.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37160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37160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0" y="1645920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830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360920" y="2011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 me a cost summary for the leadership review.”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583680" y="2606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monthly briefs with top drivers, savings achieved, and next-month opportunities — no analyst needed.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379476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" y="379476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2062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Rightsizing Decisions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91640" y="443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we resize workload X based on actual usage?”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91440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OptScale's rightsizing data and explains the trade-offs in context, not as a raw recommendation list.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263640" y="3794760"/>
            <a:ext cx="5303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63640" y="3794760"/>
            <a:ext cx="109728" cy="2194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83680" y="4069080"/>
            <a:ext cx="640080" cy="640080"/>
          </a:xfrm>
          <a:prstGeom prst="ellipse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2062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6092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Triage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7360920" y="443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3 recommendations save the most money?”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583680" y="5029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surfaces 50+ recommendations. The LLM ranks, summarizes, and explains which to act on first.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1645920" y="6172200"/>
            <a:ext cx="8869680" cy="502920"/>
          </a:xfrm>
          <a:prstGeom prst="roundRect">
            <a:avLst>
              <a:gd name="adj" fmla="val 18182"/>
            </a:avLst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645920" y="617220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intelligence without needing a FinOps specialist on the team.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OptScale + LLM Falls Short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v1 — but the architecture has real ceilings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54480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737360"/>
            <a:ext cx="502920" cy="5029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847088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63440" y="16916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polls cloud APIs at intervals — costs can lag hours behind reality.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251460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514600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8720" y="2697480"/>
            <a:ext cx="502920" cy="5029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80720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Lens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63440" y="26517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locked into OptScale's data model. Nuanced K8s questions need Kubecost-level granularity.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347472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3474720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188720" y="3657600"/>
            <a:ext cx="502920" cy="5029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3767328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Anomaly Detection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663440" y="36118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thresholds miss subtle pattern shifts that ML or LLM-driven detection would catch.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22960" y="443484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22960" y="4434840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188720" y="4617720"/>
            <a:ext cx="502920" cy="5029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27448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74520" y="4572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Memory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4663440" y="45720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forgets between conversations. It cannot learn your environment over time.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22960" y="539496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22960" y="5394960"/>
            <a:ext cx="9144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188720" y="5577840"/>
            <a:ext cx="502920" cy="502920"/>
          </a:xfrm>
          <a:prstGeom prst="ellipse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687568"/>
            <a:ext cx="283464" cy="28346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87452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Tool Reach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63440" y="55321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is the only data source. The LLM can't pull from Steampipe, Custodian, or live cloud APIs.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OptScale + LLM gives you natural language on one data source. The next step is letting the LLM choose from many.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Approach: Multi-Source Orchestration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LLM pull from the best data source per question — and remember what it learns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348740" y="1554480"/>
            <a:ext cx="21945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1554480"/>
            <a:ext cx="21945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018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01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71900" y="1554480"/>
            <a:ext cx="21945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71900" y="1554480"/>
            <a:ext cx="21945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6334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633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Pod-level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5060" y="1554480"/>
            <a:ext cx="21945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5060" y="1554480"/>
            <a:ext cx="21945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650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Steampipe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865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18220" y="1554480"/>
            <a:ext cx="21945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18220" y="1554480"/>
            <a:ext cx="21945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096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Custodian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0966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action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46020" y="2377440"/>
            <a:ext cx="0" cy="77724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69180" y="2377440"/>
            <a:ext cx="0" cy="77724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92340" y="2377440"/>
            <a:ext cx="0" cy="77724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715500" y="2377440"/>
            <a:ext cx="0" cy="777240"/>
          </a:xfrm>
          <a:prstGeom prst="line">
            <a:avLst/>
          </a:prstGeom>
          <a:noFill/>
          <a:ln w="3175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234440" y="3200400"/>
            <a:ext cx="9692640" cy="1828800"/>
          </a:xfrm>
          <a:prstGeom prst="rect">
            <a:avLst/>
          </a:prstGeom>
          <a:solidFill>
            <a:srgbClr val="0F2C4D"/>
          </a:solidFill>
          <a:ln w="12700">
            <a:solidFill>
              <a:srgbClr val="0F2C4D"/>
            </a:solidFill>
            <a:prstDash val="solid"/>
          </a:ln>
          <a:effectLst>
            <a:outerShdw sx="100000" sy="100000" kx="0" ky="0" algn="bl" rotWithShape="0" blurRad="152400" dist="38100" dir="5400000">
              <a:srgbClr val="0F2C4D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508760" y="3337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CLOUDCOSTOPS AGENT  ·  Intelligence Layer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417320" y="3794760"/>
            <a:ext cx="3017520" cy="1097280"/>
          </a:xfrm>
          <a:prstGeom prst="rect">
            <a:avLst/>
          </a:prstGeom>
          <a:solidFill>
            <a:srgbClr val="1C3D63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0200" y="4041648"/>
            <a:ext cx="594360" cy="59436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4178808"/>
            <a:ext cx="329184" cy="32918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33172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233172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right tool per question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572000" y="3794760"/>
            <a:ext cx="3017520" cy="1097280"/>
          </a:xfrm>
          <a:prstGeom prst="rect">
            <a:avLst/>
          </a:prstGeom>
          <a:solidFill>
            <a:srgbClr val="1C3D63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54880" y="4041648"/>
            <a:ext cx="594360" cy="59436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4178808"/>
            <a:ext cx="329184" cy="32918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48640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Memory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48640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environment over time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726680" y="3794760"/>
            <a:ext cx="3017520" cy="1097280"/>
          </a:xfrm>
          <a:prstGeom prst="rect">
            <a:avLst/>
          </a:prstGeom>
          <a:solidFill>
            <a:srgbClr val="1C3D63"/>
          </a:solidFill>
          <a:ln w="12700">
            <a:solidFill>
              <a:srgbClr val="5BA3C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909560" y="4041648"/>
            <a:ext cx="594360" cy="594360"/>
          </a:xfrm>
          <a:prstGeom prst="ellipse">
            <a:avLst/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178808"/>
            <a:ext cx="329184" cy="32918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641080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Privacy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864108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(Ollama) — data stays inside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6080760" y="5029200"/>
            <a:ext cx="0" cy="320040"/>
          </a:xfrm>
          <a:prstGeom prst="line">
            <a:avLst/>
          </a:prstGeom>
          <a:noFill/>
          <a:ln w="38100">
            <a:solidFill>
              <a:srgbClr val="F4B41A"/>
            </a:solidFill>
            <a:prstDash val="solid"/>
            <a:tailEnd type="triangle"/>
          </a:ln>
        </p:spPr>
      </p:sp>
      <p:sp>
        <p:nvSpPr>
          <p:cNvPr id="43" name="Shape 38"/>
          <p:cNvSpPr/>
          <p:nvPr/>
        </p:nvSpPr>
        <p:spPr>
          <a:xfrm>
            <a:off x="3794760" y="5394960"/>
            <a:ext cx="4572000" cy="777240"/>
          </a:xfrm>
          <a:prstGeom prst="roundRect">
            <a:avLst>
              <a:gd name="adj" fmla="val 11765"/>
            </a:avLst>
          </a:prstGeom>
          <a:solidFill>
            <a:srgbClr val="F4B41A"/>
          </a:solidFill>
          <a:ln w="12700">
            <a:solidFill>
              <a:srgbClr val="F4B41A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596128"/>
            <a:ext cx="384048" cy="38404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4526280" y="5394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answers · plain English · learns over time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OptScale + LLM</dc:title>
  <dc:subject>PptxGenJS Presentation</dc:subject>
  <dc:creator>CloudCostOps Agent Team</dc:creator>
  <cp:lastModifiedBy>CloudCostOps Agent Team</cp:lastModifiedBy>
  <cp:revision>1</cp:revision>
  <dcterms:created xsi:type="dcterms:W3CDTF">2026-05-13T05:49:43Z</dcterms:created>
  <dcterms:modified xsi:type="dcterms:W3CDTF">2026-05-13T05:49:43Z</dcterms:modified>
</cp:coreProperties>
</file>